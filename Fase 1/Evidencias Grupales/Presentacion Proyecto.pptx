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028090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064240" y="4572000"/>
            <a:ext cx="2926080" cy="29260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pptx_work/icons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730606"/>
            <a:ext cx="641909" cy="64190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33172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NetBot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4290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inteligente para la gestión de infraestructura de red en eventos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51206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Itamar Carrasco   ·   Bastián Herrera   ·   Francisco Díaz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55321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PTY4614 · Definición de Proyecto APT — Fase 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redes en eventos hoy es manual, lenta y propensa a errores.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ptx_work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002" y="1891162"/>
            <a:ext cx="442204" cy="4422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8013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dispositivo por dispositivo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214884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AP, VLAN o SSID se revisa y configura de forma manual y separada.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99923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1" descr="/home/claude/pptx_work/icons/activ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002" y="3061594"/>
            <a:ext cx="442204" cy="44220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9718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tiempo de respuesta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3319272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resolver un problema toma más tiempo del que un evento en vivo permite.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16966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3" name="Image 2" descr="/home/claude/pptx_wor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002" y="4232026"/>
            <a:ext cx="442204" cy="44220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414223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riesgo de error humano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4489704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manuales sobre infraestructura en producción, sin verificación ni respaldo.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7818120" y="1828800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028090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09244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costo de no automatizar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092440" y="260604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visibilidad centralizada del estado de la red durante el evento.
</a:t>
            </a:r>
            <a:pPr indent="0" marL="0">
              <a:buNone/>
            </a:pPr>
            <a:r>
              <a:rPr lang="en-US" sz="12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trazabilidad de quién cambió qué, ni cuándo.
</a:t>
            </a:r>
            <a:pPr indent="0" marL="0">
              <a:buNone/>
            </a:pPr>
            <a:r>
              <a:rPr lang="en-US" sz="12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canal simple para que un técnico consulte o actúe.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NetBot · Definición de Proyecto APT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NetBot?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plataforma que centraliza el monitoreo y la gestión controlada de la infraestructura de red usada en eventos.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063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6712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pptx_work/icons/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129" y="2222449"/>
            <a:ext cx="392278" cy="39227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7889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conversacional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308152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el estado de la red y solicita cambios en lenguaje natural.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840480" y="1965960"/>
            <a:ext cx="3063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41648" y="216712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pptx_work/icons/wif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969" y="2222449"/>
            <a:ext cx="392278" cy="39227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41648" y="27889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en tiempo real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041648" y="308152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APs, redes, alertas y disponibilidad vía UniFi y OPNsense.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3063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40873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pptx_work/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29" y="4142689"/>
            <a:ext cx="392278" cy="39227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49808" y="47091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controlada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749808" y="500176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VLAN y reinicios requieren confirmación y quedan auditados.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840480" y="3886200"/>
            <a:ext cx="30632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041648" y="40873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pptx_wor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969" y="4142689"/>
            <a:ext cx="392278" cy="39227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041648" y="47091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y rollback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4041648" y="5001768"/>
            <a:ext cx="2697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se valida después de ejecutarse; si falla, se revierte.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635240" y="1965960"/>
            <a:ext cx="4023360" cy="3657600"/>
          </a:xfrm>
          <a:prstGeom prst="roundRect">
            <a:avLst>
              <a:gd name="adj" fmla="val 3000"/>
            </a:avLst>
          </a:prstGeom>
          <a:solidFill>
            <a:srgbClr val="042A2E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790956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una acción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7909560" y="26517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7909560" y="2651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412480" y="262432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consulta o pide un cambio por chat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8092440" y="3017520"/>
            <a:ext cx="0" cy="32004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30" name="Shape 24"/>
          <p:cNvSpPr/>
          <p:nvPr/>
        </p:nvSpPr>
        <p:spPr>
          <a:xfrm>
            <a:off x="7909560" y="338328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790956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8412480" y="335584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NetBot propone la acción sobre UniFi / OPNsense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8092440" y="3749040"/>
            <a:ext cx="0" cy="32004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34" name="Shape 28"/>
          <p:cNvSpPr/>
          <p:nvPr/>
        </p:nvSpPr>
        <p:spPr>
          <a:xfrm>
            <a:off x="7909560" y="411480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790956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0"/>
          <p:cNvSpPr txBox="1"/>
          <p:nvPr/>
        </p:nvSpPr>
        <p:spPr>
          <a:xfrm>
            <a:off x="8412480" y="40873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confirma antes de ejecutar</a:t>
            </a:r>
            <a:endParaRPr lang="en-US" sz="1150" dirty="0"/>
          </a:p>
        </p:txBody>
      </p:sp>
      <p:sp>
        <p:nvSpPr>
          <p:cNvPr id="37" name="Shape 31"/>
          <p:cNvSpPr/>
          <p:nvPr/>
        </p:nvSpPr>
        <p:spPr>
          <a:xfrm>
            <a:off x="8092440" y="4480560"/>
            <a:ext cx="0" cy="320040"/>
          </a:xfrm>
          <a:prstGeom prst="line">
            <a:avLst/>
          </a:prstGeom>
          <a:noFill/>
          <a:ln w="19050">
            <a:solidFill>
              <a:srgbClr val="02C39A"/>
            </a:solidFill>
            <a:prstDash val="dash"/>
          </a:ln>
        </p:spPr>
      </p:sp>
      <p:sp>
        <p:nvSpPr>
          <p:cNvPr id="38" name="Shape 32"/>
          <p:cNvSpPr/>
          <p:nvPr/>
        </p:nvSpPr>
        <p:spPr>
          <a:xfrm>
            <a:off x="7909560" y="484632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790956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0" name="Text 34"/>
          <p:cNvSpPr txBox="1"/>
          <p:nvPr/>
        </p:nvSpPr>
        <p:spPr>
          <a:xfrm>
            <a:off x="8412480" y="481888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NetBot verifica el resultado y registra la operación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NetBot · Definición de Proyecto APT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1091672" cy="960120"/>
          </a:xfrm>
          <a:prstGeom prst="roundRect">
            <a:avLst>
              <a:gd name="adj" fmla="val 9524"/>
            </a:avLst>
          </a:prstGeom>
          <a:solidFill>
            <a:srgbClr val="02809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10561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plataforma inteligente para apoyar la gestión y monitoreo de infraestructura de red en eventos, integrando servicios existentes y permitiendo consulta, supervisión y ejecución controlada de acciones desde una interfaz centralizada.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25420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13232" y="2542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68880"/>
            <a:ext cx="4480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arquitectura de software, definiendo componentes para usuarios, monitoreo, datos e integración de red.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2377440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254203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336792" y="25420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468880"/>
            <a:ext cx="4480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NetBot con UniFi y OPNsense para obtener dispositivos, redes, alertas y disponibilidad.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75888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767328"/>
            <a:ext cx="4480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monitoreo centralizado con interfaz conversacional para consultar el estado de la red.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675888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36792" y="3840480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36792" y="3840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3767328"/>
            <a:ext cx="4480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gestión y ejecución controlada de cambios: validación de permisos, confirmación, verificación y registro.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974336"/>
            <a:ext cx="5349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5138928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" y="51389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234440" y="5065776"/>
            <a:ext cx="448056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el Producto Mínimo Viable mediante pruebas de las principales funcionalidades e integraciones.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NetBot · Definición de Proyecto APT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Relación con el perfil de egreso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NetBot pone en práctica cuatro competencias centrales del plan de estudio.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03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x_work/icons/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216347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1305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Software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280720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componentes para usuarios, monitoreo e integración.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72200" y="187452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0" y="21031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x_work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50" y="216347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32320" y="21305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Información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28232" y="280720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usuarios, dispositivos y operaciones de red.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84048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069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x_work/icons/wif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" y="412943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096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Tecnológica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04672" y="477316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de NetBot con UniFi y OPNsense.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172200" y="3840480"/>
            <a:ext cx="53492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0" y="406908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pptx_work/icons/targ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1150" y="412943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32320" y="409651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Problemas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28232" y="4773168"/>
            <a:ext cx="4892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y administración centralizada de la infraestructura.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NetBot · Definición de Proyecto APT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Intereses profesionales y factibilidad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49240" cy="4297680"/>
          </a:xfrm>
          <a:prstGeom prst="roundRect">
            <a:avLst>
              <a:gd name="adj" fmla="val 2553"/>
            </a:avLst>
          </a:prstGeom>
          <a:solidFill>
            <a:srgbClr val="028090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502920" cy="502920"/>
          </a:xfrm>
          <a:prstGeom prst="ellipse">
            <a:avLst/>
          </a:prstGeom>
          <a:solidFill>
            <a:srgbClr val="042A2E"/>
          </a:solidFill>
          <a:ln/>
        </p:spPr>
      </p:sp>
      <p:pic>
        <p:nvPicPr>
          <p:cNvPr id="5" name="Image 0" descr="/home/claude/pptx_work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281" y="1609801"/>
            <a:ext cx="392278" cy="3922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2763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nos interesa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94560"/>
            <a:ext cx="4709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permite aplicar y fortalecer conocimientos de desarrollo de software, gestión de información, integración de sistemas y resolución de problemas.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Queremos construir una solución que una software con infraestructura de red y resuelva necesidades reales de monitoreo y configuración.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nos ayuda a fortalecer trabajo colaborativo, planificación y adaptación.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080760" y="1280160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0" name="Image 1" descr="/home/claude/pptx_wor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401" y="1609801"/>
            <a:ext cx="392278" cy="39227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995160" y="162763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 factible dentro del semestre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355080" y="2340864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629400" y="22128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acotado al Producto Mínimo Viable (PMV).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55080" y="2962656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629400" y="2834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en Scrum: sprints, roles y seguimiento periódico.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55080" y="3584448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6629400" y="34564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Facilitador: dividir NetBot en módulos y validar de forma incremental.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355080" y="4206240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629400" y="407822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 integración con UniFi/OPNsense y disponibilidad de equipos de prueba.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6355080" y="4828032"/>
            <a:ext cx="128016" cy="128016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6629400" y="47000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pruebas progresivas y ajuste continuo del Product Backlog.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NetBot · Definición de Proyecto APT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Metodología: Scrum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incremental en sprints, con seguimiento continuo del avance.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6517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0A3E4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68780" y="2926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x_work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189" y="2996489"/>
            <a:ext cx="499262" cy="49926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4096512"/>
            <a:ext cx="2185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Épicas, historias de usuario y tareas priorizadas para el MVP.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00984" y="3611880"/>
            <a:ext cx="36576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0" name="Shape 7"/>
          <p:cNvSpPr/>
          <p:nvPr/>
        </p:nvSpPr>
        <p:spPr>
          <a:xfrm>
            <a:off x="3520440" y="26517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0A3E4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57700" y="2926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/home/claude/pptx_work/icons/z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8109" y="2996489"/>
            <a:ext cx="499262" cy="49926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7600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685032" y="4096512"/>
            <a:ext cx="2185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selecciona y desarrolla funcionalidades por periodo.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9904" y="3611880"/>
            <a:ext cx="36576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16" name="Shape 12"/>
          <p:cNvSpPr/>
          <p:nvPr/>
        </p:nvSpPr>
        <p:spPr>
          <a:xfrm>
            <a:off x="6309360" y="26517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0A3E4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246620" y="2926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/home/claude/pptx_wor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029" y="2996489"/>
            <a:ext cx="499262" cy="49926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46520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6473952" y="4096512"/>
            <a:ext cx="2185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revisan avances y se prueban las funcionalidades del sprint.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878824" y="3611880"/>
            <a:ext cx="365760" cy="365760"/>
          </a:xfrm>
          <a:prstGeom prst="rightArrow">
            <a:avLst/>
          </a:prstGeom>
          <a:solidFill>
            <a:srgbClr val="02C39A"/>
          </a:solidFill>
          <a:ln/>
        </p:spPr>
      </p:sp>
      <p:sp>
        <p:nvSpPr>
          <p:cNvPr id="22" name="Shape 17"/>
          <p:cNvSpPr/>
          <p:nvPr/>
        </p:nvSpPr>
        <p:spPr>
          <a:xfrm>
            <a:off x="9098280" y="2651760"/>
            <a:ext cx="2514600" cy="2377440"/>
          </a:xfrm>
          <a:prstGeom prst="roundRect">
            <a:avLst>
              <a:gd name="adj" fmla="val 3846"/>
            </a:avLst>
          </a:prstGeom>
          <a:solidFill>
            <a:srgbClr val="0A3E43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10035540" y="29260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/home/claude/pptx_work/icons/settin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5949" y="2996489"/>
            <a:ext cx="499262" cy="49926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235440" y="37033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262872" y="4096512"/>
            <a:ext cx="2185416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ajusta la planificación y el backlog según lo aprendido.</a:t>
            </a:r>
            <a:endParaRPr lang="en-US" sz="105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532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 ·  6 épicas  ·  equipo de 3 integrantes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NetBot · Definición de Proyecto APT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trabajo: 6 épicas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integrante lidera dos épicas de principio a fin.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8379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001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310128" y="18379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0" descr="/home/claude/pptx_work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65449" y="1893265"/>
            <a:ext cx="392278" cy="39227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14884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y Roles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749808" y="2990088"/>
            <a:ext cx="3108960" cy="0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Díaz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9392" y="169164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480560" y="18379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002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40880" y="18379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1" descr="/home/claude/pptx_work/icons/wif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201" y="1893265"/>
            <a:ext cx="392278" cy="39227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80560" y="214884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de Red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4480560" y="2990088"/>
            <a:ext cx="3108960" cy="0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48056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Itamar Carrasco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010144" y="169164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8211312" y="18379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003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10771632" y="183794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2" descr="/home/claude/pptx_work/icons/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953" y="1893265"/>
            <a:ext cx="392278" cy="39227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211312" y="214884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CSV y Reserva VLAN</a:t>
            </a:r>
            <a:endParaRPr lang="en-US" sz="1450" dirty="0"/>
          </a:p>
        </p:txBody>
      </p:sp>
      <p:sp>
        <p:nvSpPr>
          <p:cNvPr id="23" name="Shape 18"/>
          <p:cNvSpPr/>
          <p:nvPr/>
        </p:nvSpPr>
        <p:spPr>
          <a:xfrm>
            <a:off x="8211312" y="2990088"/>
            <a:ext cx="3108960" cy="0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8211312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Bastián Herrera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548640" y="384048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0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749808" y="3986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004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3310128" y="398678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8" name="Image 3" descr="/home/claude/pptx_work/icons/z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5449" y="4042105"/>
            <a:ext cx="392278" cy="392278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49808" y="429768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Ejecución de Cambios</a:t>
            </a:r>
            <a:endParaRPr lang="en-US" sz="1450" dirty="0"/>
          </a:p>
        </p:txBody>
      </p:sp>
      <p:sp>
        <p:nvSpPr>
          <p:cNvPr id="30" name="Shape 24"/>
          <p:cNvSpPr/>
          <p:nvPr/>
        </p:nvSpPr>
        <p:spPr>
          <a:xfrm>
            <a:off x="749808" y="5138928"/>
            <a:ext cx="3108960" cy="0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49808" y="5257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 Díaz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279392" y="384048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0000"/>
              </a:srgbClr>
            </a:outerShdw>
          </a:effectLst>
        </p:spPr>
      </p:sp>
      <p:sp>
        <p:nvSpPr>
          <p:cNvPr id="33" name="Text 27"/>
          <p:cNvSpPr txBox="1"/>
          <p:nvPr/>
        </p:nvSpPr>
        <p:spPr>
          <a:xfrm>
            <a:off x="4480560" y="3986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005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040880" y="398678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5" name="Image 4" descr="/home/claude/pptx_work/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6201" y="4042105"/>
            <a:ext cx="392278" cy="392278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4480560" y="429768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y Notificaciones</a:t>
            </a:r>
            <a:endParaRPr lang="en-US" sz="1450" dirty="0"/>
          </a:p>
        </p:txBody>
      </p:sp>
      <p:sp>
        <p:nvSpPr>
          <p:cNvPr id="37" name="Shape 30"/>
          <p:cNvSpPr/>
          <p:nvPr/>
        </p:nvSpPr>
        <p:spPr>
          <a:xfrm>
            <a:off x="4480560" y="5138928"/>
            <a:ext cx="3108960" cy="0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480560" y="5257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Itamar Carrasco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8010144" y="3840480"/>
            <a:ext cx="3520440" cy="1938528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 w="12700">
            <a:solidFill>
              <a:srgbClr val="D7E8E7"/>
            </a:solidFill>
            <a:prstDash val="solid"/>
          </a:ln>
          <a:effectLst>
            <a:outerShdw sx="100000" sy="100000" kx="0" ky="0" algn="bl" rotWithShape="0" blurRad="76200" dist="25400" dir="5400000">
              <a:srgbClr val="1B3A3D">
                <a:alpha val="10000"/>
              </a:srgbClr>
            </a:outerShdw>
          </a:effectLst>
        </p:spPr>
      </p:sp>
      <p:sp>
        <p:nvSpPr>
          <p:cNvPr id="40" name="Text 33"/>
          <p:cNvSpPr txBox="1"/>
          <p:nvPr/>
        </p:nvSpPr>
        <p:spPr>
          <a:xfrm>
            <a:off x="8211312" y="39867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006</a:t>
            </a:r>
            <a:endParaRPr lang="en-US" sz="1050" dirty="0"/>
          </a:p>
        </p:txBody>
      </p:sp>
      <p:sp>
        <p:nvSpPr>
          <p:cNvPr id="41" name="Shape 34"/>
          <p:cNvSpPr/>
          <p:nvPr/>
        </p:nvSpPr>
        <p:spPr>
          <a:xfrm>
            <a:off x="10771632" y="398678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2" name="Image 5" descr="/home/claude/pptx_work/icons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26953" y="4042105"/>
            <a:ext cx="392278" cy="392278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8211312" y="429768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Multi-Agente</a:t>
            </a:r>
            <a:endParaRPr lang="en-US" sz="1450" dirty="0"/>
          </a:p>
        </p:txBody>
      </p:sp>
      <p:sp>
        <p:nvSpPr>
          <p:cNvPr id="44" name="Shape 36"/>
          <p:cNvSpPr/>
          <p:nvPr/>
        </p:nvSpPr>
        <p:spPr>
          <a:xfrm>
            <a:off x="8211312" y="5138928"/>
            <a:ext cx="3108960" cy="0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45" name="Text 37"/>
          <p:cNvSpPr txBox="1"/>
          <p:nvPr/>
        </p:nvSpPr>
        <p:spPr>
          <a:xfrm>
            <a:off x="8211312" y="5257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Bastián Herrera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NetBot · Definición de Proyecto APT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Carta Gantt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semanas del semestre de Capstone.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063240" y="1691640"/>
            <a:ext cx="0" cy="4700016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18280" y="1691640"/>
            <a:ext cx="0" cy="4700016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835400" y="14447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973320" y="1691640"/>
            <a:ext cx="0" cy="4700016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790440" y="14447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928360" y="1691640"/>
            <a:ext cx="0" cy="4700016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45480" y="14447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883400" y="1691640"/>
            <a:ext cx="0" cy="4700016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00520" y="14447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838440" y="1691640"/>
            <a:ext cx="0" cy="4700016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55560" y="14447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793480" y="1691640"/>
            <a:ext cx="0" cy="4700016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10600" y="14447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748520" y="1691640"/>
            <a:ext cx="0" cy="4700016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565640" y="14447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0703560" y="1691640"/>
            <a:ext cx="0" cy="4700016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520680" y="14447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1658600" y="1691640"/>
            <a:ext cx="0" cy="4700016"/>
          </a:xfrm>
          <a:prstGeom prst="line">
            <a:avLst/>
          </a:prstGeom>
          <a:noFill/>
          <a:ln w="12700">
            <a:solidFill>
              <a:srgbClr val="E3EF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475720" y="144475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171907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y diseño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63240" y="1792224"/>
            <a:ext cx="1910080" cy="310896"/>
          </a:xfrm>
          <a:prstGeom prst="roundRect">
            <a:avLst>
              <a:gd name="adj" fmla="val 8824"/>
            </a:avLst>
          </a:prstGeom>
          <a:solidFill>
            <a:srgbClr val="02809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223113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Poker Planning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95800" y="2304288"/>
            <a:ext cx="477520" cy="310896"/>
          </a:xfrm>
          <a:prstGeom prst="roundRect">
            <a:avLst>
              <a:gd name="adj" fmla="val 8824"/>
            </a:avLst>
          </a:prstGeom>
          <a:solidFill>
            <a:srgbClr val="4B6C7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274320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001 · Auth (FD)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73320" y="2816352"/>
            <a:ext cx="1910080" cy="310896"/>
          </a:xfrm>
          <a:prstGeom prst="roundRect">
            <a:avLst>
              <a:gd name="adj" fmla="val 8824"/>
            </a:avLst>
          </a:prstGeom>
          <a:solidFill>
            <a:srgbClr val="00A89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325526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002 · Monitoreo (IC)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73320" y="3328416"/>
            <a:ext cx="2387600" cy="310896"/>
          </a:xfrm>
          <a:prstGeom prst="roundRect">
            <a:avLst>
              <a:gd name="adj" fmla="val 8824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37673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003 · Chat/VLAN (BH)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73320" y="3840480"/>
            <a:ext cx="2387600" cy="310896"/>
          </a:xfrm>
          <a:prstGeom prst="roundRect">
            <a:avLst>
              <a:gd name="adj" fmla="val 8824"/>
            </a:avLst>
          </a:prstGeom>
          <a:solidFill>
            <a:srgbClr val="00A89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427939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004 · Cambios (FD)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83400" y="4352544"/>
            <a:ext cx="2865120" cy="310896"/>
          </a:xfrm>
          <a:prstGeom prst="roundRect">
            <a:avLst>
              <a:gd name="adj" fmla="val 8824"/>
            </a:avLst>
          </a:prstGeom>
          <a:solidFill>
            <a:srgbClr val="02C39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479145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005 · Tickets (IC)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360920" y="4864608"/>
            <a:ext cx="2387600" cy="310896"/>
          </a:xfrm>
          <a:prstGeom prst="roundRect">
            <a:avLst>
              <a:gd name="adj" fmla="val 8824"/>
            </a:avLst>
          </a:prstGeom>
          <a:solidFill>
            <a:srgbClr val="02C39A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48640" y="530352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Épica 006 · Multi-Agente (BH)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60920" y="5376672"/>
            <a:ext cx="2387600" cy="310896"/>
          </a:xfrm>
          <a:prstGeom prst="roundRect">
            <a:avLst>
              <a:gd name="adj" fmla="val 8824"/>
            </a:avLst>
          </a:prstGeom>
          <a:solidFill>
            <a:srgbClr val="02C39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48640" y="5815584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y pruebas E2E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748520" y="5888736"/>
            <a:ext cx="955040" cy="310896"/>
          </a:xfrm>
          <a:prstGeom prst="roundRect">
            <a:avLst>
              <a:gd name="adj" fmla="val 8824"/>
            </a:avLst>
          </a:prstGeom>
          <a:solidFill>
            <a:srgbClr val="042A2E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NetBot · Definición de Proyecto APT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AVANCE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pptx_work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0885" y="1642445"/>
            <a:ext cx="299557" cy="2995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61848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Autenticación / Roles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16712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pptx_work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85" y="2209373"/>
            <a:ext cx="299557" cy="29955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218541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Monitoreo de Red (API real UniFi)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/home/claude/pptx_work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85" y="2776301"/>
            <a:ext cx="299557" cy="29955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97280" y="27523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de Chat / CSV / Reserva VLAN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548640" y="330098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3" descr="/home/claude/pptx_work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85" y="3343229"/>
            <a:ext cx="299557" cy="29955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97280" y="331927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de ejecución de cambios (verificación y rollback)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548640" y="386791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4" descr="/home/claude/pptx_work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885" y="3910157"/>
            <a:ext cx="299557" cy="299557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97280" y="3886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tickets y notificaciones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806440" y="1188720"/>
            <a:ext cx="5852160" cy="4206240"/>
          </a:xfrm>
          <a:prstGeom prst="roundRect">
            <a:avLst>
              <a:gd name="adj" fmla="val 2609"/>
            </a:avLst>
          </a:prstGeom>
          <a:solidFill>
            <a:srgbClr val="028090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608076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6080760" y="1737360"/>
            <a:ext cx="640080" cy="640080"/>
          </a:xfrm>
          <a:prstGeom prst="ellipse">
            <a:avLst/>
          </a:prstGeom>
          <a:solidFill>
            <a:srgbClr val="042A2E"/>
          </a:solidFill>
          <a:ln/>
        </p:spPr>
      </p:sp>
      <p:pic>
        <p:nvPicPr>
          <p:cNvPr id="22" name="Image 5" descr="/home/claude/pptx_work/icons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1169" y="1807769"/>
            <a:ext cx="499262" cy="49926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903720" y="17830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integración multi-agente + cierre NetBot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6080760" y="2606040"/>
            <a:ext cx="53035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orquestación de agentes en background, logs de ejecución concurrente, informe de pruebas end-to-end y presentación / pitch final.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5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todas las épicas en un sistema integrado y funcional, cumpliendo el objetivo completo del proyecto de título.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NetBot · Definición de Proyecto APT</a:t>
            </a:r>
            <a:endParaRPr lang="en-US" sz="1000" dirty="0"/>
          </a:p>
        </p:txBody>
      </p:sp>
      <p:sp>
        <p:nvSpPr>
          <p:cNvPr id="26" name="Text 18"/>
          <p:cNvSpPr/>
          <p:nvPr/>
        </p:nvSpPr>
        <p:spPr>
          <a:xfrm>
            <a:off x="10817352" y="652881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B6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28090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840480"/>
            <a:ext cx="3657600" cy="36576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03520" y="1280160"/>
            <a:ext cx="914400" cy="9144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5" name="Image 0" descr="/home/claude/pptx_work/icons/wif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4104" y="1380744"/>
            <a:ext cx="713232" cy="7132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46888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3756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son bienvenidos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Itamar Carrasco   ·   Bastián Herrera   ·   Francisco Díaz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262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FA9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NetBot — Capstone PTY4614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2026-08-31T01:22:40Z</dcterms:created>
  <dcterms:modified xsi:type="dcterms:W3CDTF">2026-08-31T01:22:40Z</dcterms:modified>
</cp:coreProperties>
</file>