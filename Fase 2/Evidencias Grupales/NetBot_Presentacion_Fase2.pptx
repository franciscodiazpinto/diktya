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vop48WrrgHPqbmg3Zd3wCqtbJ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B2D784-E343-46B2-B04E-FF6B2C4F25A7}">
  <a:tblStyle styleId="{01B2D784-E343-46B2-B04E-FF6B2C4F25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h1a3ff83170dc108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h1a3ff83170dc108f_1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0:15 · Presenta: Francisco.</a:t>
            </a:r>
            <a:br>
              <a:rPr lang="en-US"/>
            </a:br>
            <a:r>
              <a:rPr lang="en-US"/>
              <a:t>Saludo y presentación del equipo. NetBot: agente inteligente para gestionar la red de eventos. Hoy mostramos el problema, el producto, nuestro vínculo con el perfil de egreso, el plan de trabajo y el avance, y cerramos con un video de 3 minutos.</a:t>
            </a:r>
            <a:endParaRPr/>
          </a:p>
        </p:txBody>
      </p:sp>
      <p:sp>
        <p:nvSpPr>
          <p:cNvPr id="28" name="Google Shape;28;h1a3ff83170dc108f_1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h1a3ff83170dc108f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h1a3ff83170dc108f_1_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0:50 · Presenta: Francisco.</a:t>
            </a:r>
            <a:br>
              <a:rPr lang="en-US"/>
            </a:br>
            <a:r>
              <a:rPr lang="en-US"/>
              <a:t>Hoy el despliegue de la red de un evento es manual: AP, VLAN y SSID se configuran uno por uno. Eso demora el montaje, genera errores (VLAN duplicadas, SSID mal configurados, equipos olvidados) y no deja trazabilidad. Durante el evento no hay vista centralizada: las fallas se detectan por reclamos. La consecuencia es no llegar a tiempo ni cumplir normativas, con pérdidas para los organizadores.</a:t>
            </a:r>
            <a:endParaRPr/>
          </a:p>
        </p:txBody>
      </p:sp>
      <p:sp>
        <p:nvSpPr>
          <p:cNvPr id="41" name="Google Shape;41;h1a3ff83170dc108f_1_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a3ff83170dc108f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a3ff83170dc108f_1_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1:00 · Presenta: Itamar.</a:t>
            </a:r>
            <a:br>
              <a:rPr lang="en-US"/>
            </a:br>
            <a:r>
              <a:rPr lang="en-US"/>
              <a:t>NetBot reúne cuatro capacidades: chat en lenguaje natural, monitoreo en tiempo real, cambios controlados y tickets con agentes en background. Un cambio nunca se ejecuta directo: se valida el rol, se reserva la VLAN, el usuario confirma, se ejecuta, se verifica y, si falla, se revierte. Las metas del PMV: −70% de tiempo en despliegue de SSIDs, 0 colisiones de VLAN, detectar un AP caído en menos de 2 minutos y 100% de cambios con trazabilidad.</a:t>
            </a:r>
            <a:endParaRPr/>
          </a:p>
        </p:txBody>
      </p:sp>
      <p:sp>
        <p:nvSpPr>
          <p:cNvPr id="67" name="Google Shape;67;h1a3ff83170dc108f_1_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1a3ff83170dc108f_1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h1a3ff83170dc108f_1_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0:35 · Presenta: Bastián.</a:t>
            </a:r>
            <a:br>
              <a:rPr lang="en-US"/>
            </a:br>
            <a:r>
              <a:rPr lang="en-US"/>
              <a:t>NetBot pone en práctica cuatro competencias del perfil de egreso: diseño de software (arquitectura modular, diseño y pruebas), gestión de información (modelo de datos y normalización de datos de red), integración tecnológica (API REST, OPNsense hoy y UniFi próximamente) y resolución de problemas (monitoreo centralizado y, en construcción, cambios con verificación y rollback).</a:t>
            </a:r>
            <a:endParaRPr/>
          </a:p>
        </p:txBody>
      </p:sp>
      <p:sp>
        <p:nvSpPr>
          <p:cNvPr id="121" name="Google Shape;121;h1a3ff83170dc108f_1_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1a3ff83170dc108f_1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h1a3ff83170dc108f_1_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1:15 (25 s por persona) · Presentan: Itamar, Bastián y Francisco, cada uno su columna, en primera persona.</a:t>
            </a:r>
            <a:br>
              <a:rPr lang="en-US"/>
            </a:br>
            <a:r>
              <a:rPr lang="en-US"/>
              <a:t>• Itamar: Quiero fortalecer arquitectura de sistemas, cloud y gestión de proyectos. En NetBot desarrollo el backend y la integración con las APIs de red. En 5 años me veo como desarrollador backend en proyectos internacionales.</a:t>
            </a:r>
            <a:br>
              <a:rPr lang="en-US"/>
            </a:br>
            <a:r>
              <a:rPr lang="en-US"/>
              <a:t>• Bastián: Mi foco es la gestión de proyectos: coordinar el equipo y decidir con tiempo y recursos acotados. Aquí aplico diseño de software, integración y resolución de problemas con metodologías ágiles. Me proyecto en una empresa consolidada, liderando proyectos o en desarrollo, con interés en ciberseguridad.</a:t>
            </a:r>
            <a:br>
              <a:rPr lang="en-US"/>
            </a:br>
            <a:r>
              <a:rPr lang="en-US"/>
              <a:t>• Francisco: Quiero fortalecer documentación formal y gestión de proyectos. NetBot reúne automatización de infraestructura e IA, mi área de interés. En 5 años me veo diseñando soluciones de automatización e IA para infraestructura y productos B2B viables.</a:t>
            </a:r>
            <a:br>
              <a:rPr lang="en-US"/>
            </a:br>
            <a:r>
              <a:rPr lang="en-US"/>
              <a:t>Base: Diarios de Reflexión Fase 1.</a:t>
            </a:r>
            <a:endParaRPr/>
          </a:p>
        </p:txBody>
      </p:sp>
      <p:sp>
        <p:nvSpPr>
          <p:cNvPr id="130" name="Google Shape;130;h1a3ff83170dc108f_1_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1a3ff83170dc108f_1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h1a3ff83170dc108f_1_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0:55 · Presenta: Bastián.</a:t>
            </a:r>
            <a:br>
              <a:rPr lang="en-US"/>
            </a:br>
            <a:r>
              <a:rPr lang="en-US"/>
              <a:t>El proyecto tiene 6 épicas, 9 sprints de 2 semanas y 18 semanas en total; cada integrante lidera dos épicas. Estamos en la semana 10 y vamos atrasados: la barra fina es el plan original y la gruesa lo real o reprogramado. La 001 terminó una semana tarde; la 002 sigue en curso (falta UniFi y validar con equipo real) con unos 3 semanas de atraso; la 003 (chat, CSV y VLAN) no ha comenzado, +4 semanas; la 004 se corre unas 2 semanas, y 005 y 006 se entregan en versión mínima en la semana 13. Además la integración final ya no tiene holgura: consume las semanas 17 y 18. Para recuperar priorizamos un flujo demostrable de punta a punta con versiones mínimas de tickets y agentes en la semana 13.</a:t>
            </a:r>
            <a:br>
              <a:rPr lang="en-US"/>
            </a:br>
            <a:r>
              <a:rPr lang="en-US"/>
              <a:t>NOTA: las fechas reprogramadas de 003, 004, 005, 006 y el cierre son propuesta del equipo a partir del acta del 17/10; confirmar. Plan original tomado del Gantt de la Fase 1.</a:t>
            </a:r>
            <a:endParaRPr/>
          </a:p>
        </p:txBody>
      </p:sp>
      <p:sp>
        <p:nvSpPr>
          <p:cNvPr id="171" name="Google Shape;171;h1a3ff83170dc108f_1_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1a3ff83170dc108f_1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1a3ff83170dc108f_1_2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0:40 · Presenta: Francisco.</a:t>
            </a:r>
            <a:br>
              <a:rPr lang="en-US"/>
            </a:br>
            <a:r>
              <a:rPr lang="en-US"/>
              <a:t>Trabajamos con Scrum y con un flujo de ramas en Git: una rama por funcionalidad (por ejemplo, chat). Al terminar se abre un pull request hacia dev, revisado por otro integrante (parte de nuestra Definition of Done). Al completar el sprint, dev se mergea a main. Si hay conflictos entre ramas, se crea una rama fix o hotfix según la gravedad; el responsable resuelve el conflicto y recién entonces hace el pull a dev. Siempre se avisa por el grupo cuando se trabaja en el código y cuando se hace un pull.</a:t>
            </a:r>
            <a:endParaRPr/>
          </a:p>
        </p:txBody>
      </p:sp>
      <p:sp>
        <p:nvSpPr>
          <p:cNvPr id="276" name="Google Shape;276;h1a3ff83170dc108f_1_2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1a3ff83170dc108f_1_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h1a3ff83170dc108f_1_2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1:20 · Presentan: Francisco (001), Itamar (002) y Bastián (003–006 y próximos hitos).</a:t>
            </a:r>
            <a:br>
              <a:rPr lang="en-US"/>
            </a:br>
            <a:r>
              <a:rPr lang="en-US"/>
              <a:t>• Francisco: Épica 001 completada: login, refresh y logout con JWT, contraseñas con Argon2, roles admin/operador/visor y administración de usuarios; login conectado al frontend. 101 pruebas automatizadas aprobadas.</a:t>
            </a:r>
            <a:br>
              <a:rPr lang="en-US"/>
            </a:br>
            <a:r>
              <a:rPr lang="en-US"/>
              <a:t>• Itamar: Épica 002 en curso: 5 endpoints de monitoreo (sistema, interfaces, clientes, firewall y eventos) sobre OPNsense y un proveedor simulado, con caché y estados ok/degradado/no disponible. Falta integrar UniFi, validar formatos contra un equipo real y conectar el dashboard, que hoy es un prototipo con datos de demostración.</a:t>
            </a:r>
            <a:br>
              <a:rPr lang="en-US"/>
            </a:br>
            <a:r>
              <a:rPr lang="en-US"/>
              <a:t>• Bastián: las épicas 003 a 006 están definidas en el diseño y backlog; el chat con reserva de VLAN es la siguiente prioridad (semana 12), seguido de CSV, tickets y agente mínimos (semana 13).</a:t>
            </a:r>
            <a:br>
              <a:rPr lang="en-US"/>
            </a:br>
            <a:r>
              <a:rPr lang="en-US"/>
              <a:t>Hitos: semana 10 proteger monitoreo; semana 11 dashboard conectado; semana 12 chat/VLAN y UniFi; semana 13 CSV, tickets y agente mínimos.</a:t>
            </a:r>
            <a:endParaRPr/>
          </a:p>
        </p:txBody>
      </p:sp>
      <p:sp>
        <p:nvSpPr>
          <p:cNvPr id="328" name="Google Shape;328;h1a3ff83170dc108f_1_2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1a3ff83170dc108f_1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h1a3ff83170dc108f_1_3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3:00 · Reproducir el video.</a:t>
            </a:r>
            <a:br>
              <a:rPr lang="en-US"/>
            </a:br>
            <a:r>
              <a:rPr lang="en-US"/>
              <a:t>Importante: el video debe mostrar toda la funcionalidad disponible al momento de la presentación. La evidencia actual (Fase 2/Evidencias Proyecto/evidencia.mp4) dura 26 s y solo muestra el login y el dashboard: regrabar con los 4 puntos de esta lámina (y sumar el chat/VLAN si alcanza a estar listo).</a:t>
            </a:r>
            <a:endParaRPr/>
          </a:p>
        </p:txBody>
      </p:sp>
      <p:sp>
        <p:nvSpPr>
          <p:cNvPr id="359" name="Google Shape;359;h1a3ff83170dc108f_1_3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2"/>
        </a:solidFill>
      </p:bgPr>
    </p:bg>
    <p:spTree>
      <p:nvGrpSpPr>
        <p:cNvPr id="11" name="Shape 11"/>
        <p:cNvGrpSpPr/>
        <p:nvPr/>
      </p:nvGrpSpPr>
      <p:grpSpPr>
        <a:xfrm>
          <a:off x="0" y="0"/>
          <a:ext cx="0" cy="0"/>
          <a:chOff x="0" y="0"/>
          <a:chExt cx="0" cy="0"/>
        </a:xfrm>
      </p:grpSpPr>
      <p:sp>
        <p:nvSpPr>
          <p:cNvPr id="12" name="Google Shape;12;p11"/>
          <p:cNvSpPr txBox="1"/>
          <p:nvPr>
            <p:ph type="title"/>
          </p:nvPr>
        </p:nvSpPr>
        <p:spPr>
          <a:xfrm>
            <a:off x="822960" y="2331720"/>
            <a:ext cx="7772400" cy="10972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6600"/>
              <a:buFont typeface="Cambria"/>
              <a:buNone/>
              <a:defRPr b="1" i="0" sz="66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1"/>
          <p:cNvSpPr txBox="1"/>
          <p:nvPr>
            <p:ph idx="1" type="body"/>
          </p:nvPr>
        </p:nvSpPr>
        <p:spPr>
          <a:xfrm>
            <a:off x="822960" y="3520440"/>
            <a:ext cx="7315200" cy="8229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chemeClr val="accent5"/>
              </a:buClr>
              <a:buSzPts val="2200"/>
              <a:buFont typeface="Arial"/>
              <a:buNone/>
              <a:defRPr b="0" i="0" sz="2200" u="none" cap="none" strike="noStrike">
                <a:solidFill>
                  <a:schemeClr val="accent5"/>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2"/>
        </a:solidFill>
      </p:bgPr>
    </p:bg>
    <p:spTree>
      <p:nvGrpSpPr>
        <p:cNvPr id="14" name="Shape 14"/>
        <p:cNvGrpSpPr/>
        <p:nvPr/>
      </p:nvGrpSpPr>
      <p:grpSpPr>
        <a:xfrm>
          <a:off x="0" y="0"/>
          <a:ext cx="0" cy="0"/>
          <a:chOff x="0" y="0"/>
          <a:chExt cx="0" cy="0"/>
        </a:xfrm>
      </p:grpSpPr>
      <p:sp>
        <p:nvSpPr>
          <p:cNvPr id="15" name="Google Shape;15;p12"/>
          <p:cNvSpPr txBox="1"/>
          <p:nvPr>
            <p:ph type="title"/>
          </p:nvPr>
        </p:nvSpPr>
        <p:spPr>
          <a:xfrm>
            <a:off x="548640" y="365760"/>
            <a:ext cx="11091672"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600"/>
              <a:buFont typeface="Cambria"/>
              <a:buNone/>
              <a:defRPr b="1" i="0" sz="3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2"/>
          <p:cNvSpPr txBox="1"/>
          <p:nvPr>
            <p:ph idx="1" type="body"/>
          </p:nvPr>
        </p:nvSpPr>
        <p:spPr>
          <a:xfrm>
            <a:off x="548640" y="1051560"/>
            <a:ext cx="11091672"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accent6"/>
              </a:buClr>
              <a:buSzPts val="1600"/>
              <a:buFont typeface="Arial"/>
              <a:buNone/>
              <a:defRPr b="0" i="0" sz="1600" u="none" cap="none" strike="noStrike">
                <a:solidFill>
                  <a:schemeClr val="accent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 name="Google Shape;17;p12"/>
          <p:cNvSpPr/>
          <p:nvPr/>
        </p:nvSpPr>
        <p:spPr>
          <a:xfrm>
            <a:off x="548640" y="64008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none" cap="none" strike="noStrike">
                <a:solidFill>
                  <a:schemeClr val="accent6"/>
                </a:solidFill>
                <a:latin typeface="Calibri"/>
                <a:ea typeface="Calibri"/>
                <a:cs typeface="Calibri"/>
                <a:sym typeface="Calibri"/>
              </a:rPr>
              <a:t>NetBot · Fase 2 · Desarrollo del Proyecto APT</a:t>
            </a:r>
            <a:endParaRPr b="0" i="0" sz="1100" u="none" cap="none" strike="noStrike">
              <a:solidFill>
                <a:schemeClr val="dk1"/>
              </a:solidFill>
              <a:latin typeface="Calibri"/>
              <a:ea typeface="Calibri"/>
              <a:cs typeface="Calibri"/>
              <a:sym typeface="Calibri"/>
            </a:endParaRPr>
          </a:p>
        </p:txBody>
      </p:sp>
      <p:sp>
        <p:nvSpPr>
          <p:cNvPr id="18" name="Google Shape;18;p12"/>
          <p:cNvSpPr txBox="1"/>
          <p:nvPr>
            <p:ph idx="12"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100" u="none" cap="none" strike="noStrike">
                <a:solidFill>
                  <a:schemeClr val="accent6"/>
                </a:solidFill>
                <a:latin typeface="Calibri"/>
                <a:ea typeface="Calibri"/>
                <a:cs typeface="Calibri"/>
                <a:sym typeface="Calibri"/>
              </a:defRPr>
            </a:lvl1pPr>
            <a:lvl2pPr indent="0" lvl="1" marL="0" marR="0" algn="r">
              <a:spcBef>
                <a:spcPts val="0"/>
              </a:spcBef>
              <a:buNone/>
              <a:defRPr b="0" i="0" sz="1100" u="none" cap="none" strike="noStrike">
                <a:solidFill>
                  <a:schemeClr val="accent6"/>
                </a:solidFill>
                <a:latin typeface="Calibri"/>
                <a:ea typeface="Calibri"/>
                <a:cs typeface="Calibri"/>
                <a:sym typeface="Calibri"/>
              </a:defRPr>
            </a:lvl2pPr>
            <a:lvl3pPr indent="0" lvl="2" marL="0" marR="0" algn="r">
              <a:spcBef>
                <a:spcPts val="0"/>
              </a:spcBef>
              <a:buNone/>
              <a:defRPr b="0" i="0" sz="1100" u="none" cap="none" strike="noStrike">
                <a:solidFill>
                  <a:schemeClr val="accent6"/>
                </a:solidFill>
                <a:latin typeface="Calibri"/>
                <a:ea typeface="Calibri"/>
                <a:cs typeface="Calibri"/>
                <a:sym typeface="Calibri"/>
              </a:defRPr>
            </a:lvl3pPr>
            <a:lvl4pPr indent="0" lvl="3" marL="0" marR="0" algn="r">
              <a:spcBef>
                <a:spcPts val="0"/>
              </a:spcBef>
              <a:buNone/>
              <a:defRPr b="0" i="0" sz="1100" u="none" cap="none" strike="noStrike">
                <a:solidFill>
                  <a:schemeClr val="accent6"/>
                </a:solidFill>
                <a:latin typeface="Calibri"/>
                <a:ea typeface="Calibri"/>
                <a:cs typeface="Calibri"/>
                <a:sym typeface="Calibri"/>
              </a:defRPr>
            </a:lvl4pPr>
            <a:lvl5pPr indent="0" lvl="4" marL="0" marR="0" algn="r">
              <a:spcBef>
                <a:spcPts val="0"/>
              </a:spcBef>
              <a:buNone/>
              <a:defRPr b="0" i="0" sz="1100" u="none" cap="none" strike="noStrike">
                <a:solidFill>
                  <a:schemeClr val="accent6"/>
                </a:solidFill>
                <a:latin typeface="Calibri"/>
                <a:ea typeface="Calibri"/>
                <a:cs typeface="Calibri"/>
                <a:sym typeface="Calibri"/>
              </a:defRPr>
            </a:lvl5pPr>
            <a:lvl6pPr indent="0" lvl="5" marL="0" marR="0" algn="r">
              <a:spcBef>
                <a:spcPts val="0"/>
              </a:spcBef>
              <a:buNone/>
              <a:defRPr b="0" i="0" sz="1100" u="none" cap="none" strike="noStrike">
                <a:solidFill>
                  <a:schemeClr val="accent6"/>
                </a:solidFill>
                <a:latin typeface="Calibri"/>
                <a:ea typeface="Calibri"/>
                <a:cs typeface="Calibri"/>
                <a:sym typeface="Calibri"/>
              </a:defRPr>
            </a:lvl6pPr>
            <a:lvl7pPr indent="0" lvl="6" marL="0" marR="0" algn="r">
              <a:spcBef>
                <a:spcPts val="0"/>
              </a:spcBef>
              <a:buNone/>
              <a:defRPr b="0" i="0" sz="1100" u="none" cap="none" strike="noStrike">
                <a:solidFill>
                  <a:schemeClr val="accent6"/>
                </a:solidFill>
                <a:latin typeface="Calibri"/>
                <a:ea typeface="Calibri"/>
                <a:cs typeface="Calibri"/>
                <a:sym typeface="Calibri"/>
              </a:defRPr>
            </a:lvl7pPr>
            <a:lvl8pPr indent="0" lvl="7" marL="0" marR="0" algn="r">
              <a:spcBef>
                <a:spcPts val="0"/>
              </a:spcBef>
              <a:buNone/>
              <a:defRPr b="0" i="0" sz="1100" u="none" cap="none" strike="noStrike">
                <a:solidFill>
                  <a:schemeClr val="accent6"/>
                </a:solidFill>
                <a:latin typeface="Calibri"/>
                <a:ea typeface="Calibri"/>
                <a:cs typeface="Calibri"/>
                <a:sym typeface="Calibri"/>
              </a:defRPr>
            </a:lvl8pPr>
            <a:lvl9pPr indent="0" lvl="8" marL="0" marR="0" algn="r">
              <a:spcBef>
                <a:spcPts val="0"/>
              </a:spcBef>
              <a:buNone/>
              <a:defRPr b="0" i="0" sz="11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DARK">
  <p:cSld name="CONTENT_DARK">
    <p:bg>
      <p:bgPr>
        <a:solidFill>
          <a:schemeClr val="dk2"/>
        </a:solidFill>
      </p:bgPr>
    </p:bg>
    <p:spTree>
      <p:nvGrpSpPr>
        <p:cNvPr id="19" name="Shape 19"/>
        <p:cNvGrpSpPr/>
        <p:nvPr/>
      </p:nvGrpSpPr>
      <p:grpSpPr>
        <a:xfrm>
          <a:off x="0" y="0"/>
          <a:ext cx="0" cy="0"/>
          <a:chOff x="0" y="0"/>
          <a:chExt cx="0" cy="0"/>
        </a:xfrm>
      </p:grpSpPr>
      <p:sp>
        <p:nvSpPr>
          <p:cNvPr id="20" name="Google Shape;20;p13"/>
          <p:cNvSpPr txBox="1"/>
          <p:nvPr>
            <p:ph type="title"/>
          </p:nvPr>
        </p:nvSpPr>
        <p:spPr>
          <a:xfrm>
            <a:off x="548640" y="365760"/>
            <a:ext cx="11091672"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600"/>
              <a:buFont typeface="Cambria"/>
              <a:buNone/>
              <a:defRPr b="1" i="0" sz="36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13"/>
          <p:cNvSpPr txBox="1"/>
          <p:nvPr>
            <p:ph idx="1" type="body"/>
          </p:nvPr>
        </p:nvSpPr>
        <p:spPr>
          <a:xfrm>
            <a:off x="548640" y="1051560"/>
            <a:ext cx="11091672"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accent5"/>
              </a:buClr>
              <a:buSzPts val="1600"/>
              <a:buFont typeface="Arial"/>
              <a:buNone/>
              <a:defRPr b="0" i="0" sz="1600" u="none" cap="none" strike="noStrike">
                <a:solidFill>
                  <a:schemeClr val="accent5"/>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2" name="Google Shape;22;p13"/>
          <p:cNvSpPr/>
          <p:nvPr/>
        </p:nvSpPr>
        <p:spPr>
          <a:xfrm>
            <a:off x="548640" y="64008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US" sz="1100" u="none" cap="none" strike="noStrike">
                <a:solidFill>
                  <a:schemeClr val="accent5"/>
                </a:solidFill>
                <a:latin typeface="Calibri"/>
                <a:ea typeface="Calibri"/>
                <a:cs typeface="Calibri"/>
                <a:sym typeface="Calibri"/>
              </a:rPr>
              <a:t>NetBot · Fase 2 · Desarrollo del Proyecto APT</a:t>
            </a:r>
            <a:endParaRPr b="0" i="0" sz="1100" u="none" cap="none" strike="noStrike">
              <a:solidFill>
                <a:schemeClr val="dk1"/>
              </a:solidFill>
              <a:latin typeface="Calibri"/>
              <a:ea typeface="Calibri"/>
              <a:cs typeface="Calibri"/>
              <a:sym typeface="Calibri"/>
            </a:endParaRPr>
          </a:p>
        </p:txBody>
      </p:sp>
      <p:sp>
        <p:nvSpPr>
          <p:cNvPr id="23" name="Google Shape;23;p13"/>
          <p:cNvSpPr txBox="1"/>
          <p:nvPr>
            <p:ph idx="12"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100" u="none" cap="none" strike="noStrike">
                <a:solidFill>
                  <a:schemeClr val="accent5"/>
                </a:solidFill>
                <a:latin typeface="Calibri"/>
                <a:ea typeface="Calibri"/>
                <a:cs typeface="Calibri"/>
                <a:sym typeface="Calibri"/>
              </a:defRPr>
            </a:lvl1pPr>
            <a:lvl2pPr indent="0" lvl="1" marL="0" marR="0" algn="r">
              <a:spcBef>
                <a:spcPts val="0"/>
              </a:spcBef>
              <a:buNone/>
              <a:defRPr b="0" i="0" sz="1100" u="none" cap="none" strike="noStrike">
                <a:solidFill>
                  <a:schemeClr val="accent5"/>
                </a:solidFill>
                <a:latin typeface="Calibri"/>
                <a:ea typeface="Calibri"/>
                <a:cs typeface="Calibri"/>
                <a:sym typeface="Calibri"/>
              </a:defRPr>
            </a:lvl2pPr>
            <a:lvl3pPr indent="0" lvl="2" marL="0" marR="0" algn="r">
              <a:spcBef>
                <a:spcPts val="0"/>
              </a:spcBef>
              <a:buNone/>
              <a:defRPr b="0" i="0" sz="1100" u="none" cap="none" strike="noStrike">
                <a:solidFill>
                  <a:schemeClr val="accent5"/>
                </a:solidFill>
                <a:latin typeface="Calibri"/>
                <a:ea typeface="Calibri"/>
                <a:cs typeface="Calibri"/>
                <a:sym typeface="Calibri"/>
              </a:defRPr>
            </a:lvl3pPr>
            <a:lvl4pPr indent="0" lvl="3" marL="0" marR="0" algn="r">
              <a:spcBef>
                <a:spcPts val="0"/>
              </a:spcBef>
              <a:buNone/>
              <a:defRPr b="0" i="0" sz="1100" u="none" cap="none" strike="noStrike">
                <a:solidFill>
                  <a:schemeClr val="accent5"/>
                </a:solidFill>
                <a:latin typeface="Calibri"/>
                <a:ea typeface="Calibri"/>
                <a:cs typeface="Calibri"/>
                <a:sym typeface="Calibri"/>
              </a:defRPr>
            </a:lvl4pPr>
            <a:lvl5pPr indent="0" lvl="4" marL="0" marR="0" algn="r">
              <a:spcBef>
                <a:spcPts val="0"/>
              </a:spcBef>
              <a:buNone/>
              <a:defRPr b="0" i="0" sz="1100" u="none" cap="none" strike="noStrike">
                <a:solidFill>
                  <a:schemeClr val="accent5"/>
                </a:solidFill>
                <a:latin typeface="Calibri"/>
                <a:ea typeface="Calibri"/>
                <a:cs typeface="Calibri"/>
                <a:sym typeface="Calibri"/>
              </a:defRPr>
            </a:lvl5pPr>
            <a:lvl6pPr indent="0" lvl="5" marL="0" marR="0" algn="r">
              <a:spcBef>
                <a:spcPts val="0"/>
              </a:spcBef>
              <a:buNone/>
              <a:defRPr b="0" i="0" sz="1100" u="none" cap="none" strike="noStrike">
                <a:solidFill>
                  <a:schemeClr val="accent5"/>
                </a:solidFill>
                <a:latin typeface="Calibri"/>
                <a:ea typeface="Calibri"/>
                <a:cs typeface="Calibri"/>
                <a:sym typeface="Calibri"/>
              </a:defRPr>
            </a:lvl6pPr>
            <a:lvl7pPr indent="0" lvl="6" marL="0" marR="0" algn="r">
              <a:spcBef>
                <a:spcPts val="0"/>
              </a:spcBef>
              <a:buNone/>
              <a:defRPr b="0" i="0" sz="1100" u="none" cap="none" strike="noStrike">
                <a:solidFill>
                  <a:schemeClr val="accent5"/>
                </a:solidFill>
                <a:latin typeface="Calibri"/>
                <a:ea typeface="Calibri"/>
                <a:cs typeface="Calibri"/>
                <a:sym typeface="Calibri"/>
              </a:defRPr>
            </a:lvl7pPr>
            <a:lvl8pPr indent="0" lvl="7" marL="0" marR="0" algn="r">
              <a:spcBef>
                <a:spcPts val="0"/>
              </a:spcBef>
              <a:buNone/>
              <a:defRPr b="0" i="0" sz="1100" u="none" cap="none" strike="noStrike">
                <a:solidFill>
                  <a:schemeClr val="accent5"/>
                </a:solidFill>
                <a:latin typeface="Calibri"/>
                <a:ea typeface="Calibri"/>
                <a:cs typeface="Calibri"/>
                <a:sym typeface="Calibri"/>
              </a:defRPr>
            </a:lvl8pPr>
            <a:lvl9pPr indent="0" lvl="8" marL="0" marR="0" algn="r">
              <a:spcBef>
                <a:spcPts val="0"/>
              </a:spcBef>
              <a:buNone/>
              <a:defRPr b="0" i="0" sz="11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4" name="Shape 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0"/>
          <p:cNvSpPr txBox="1"/>
          <p:nvPr>
            <p:ph idx="12"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100" u="none" cap="none" strike="noStrike">
                <a:solidFill>
                  <a:schemeClr val="accent6"/>
                </a:solidFill>
                <a:latin typeface="Calibri"/>
                <a:ea typeface="Calibri"/>
                <a:cs typeface="Calibri"/>
                <a:sym typeface="Calibri"/>
              </a:defRPr>
            </a:lvl1pPr>
            <a:lvl2pPr indent="0" lvl="1" marL="0" marR="0" rtl="0" algn="r">
              <a:spcBef>
                <a:spcPts val="0"/>
              </a:spcBef>
              <a:buNone/>
              <a:defRPr b="0" i="0" sz="1100" u="none" cap="none" strike="noStrike">
                <a:solidFill>
                  <a:schemeClr val="accent6"/>
                </a:solidFill>
                <a:latin typeface="Calibri"/>
                <a:ea typeface="Calibri"/>
                <a:cs typeface="Calibri"/>
                <a:sym typeface="Calibri"/>
              </a:defRPr>
            </a:lvl2pPr>
            <a:lvl3pPr indent="0" lvl="2" marL="0" marR="0" rtl="0" algn="r">
              <a:spcBef>
                <a:spcPts val="0"/>
              </a:spcBef>
              <a:buNone/>
              <a:defRPr b="0" i="0" sz="1100" u="none" cap="none" strike="noStrike">
                <a:solidFill>
                  <a:schemeClr val="accent6"/>
                </a:solidFill>
                <a:latin typeface="Calibri"/>
                <a:ea typeface="Calibri"/>
                <a:cs typeface="Calibri"/>
                <a:sym typeface="Calibri"/>
              </a:defRPr>
            </a:lvl3pPr>
            <a:lvl4pPr indent="0" lvl="3" marL="0" marR="0" rtl="0" algn="r">
              <a:spcBef>
                <a:spcPts val="0"/>
              </a:spcBef>
              <a:buNone/>
              <a:defRPr b="0" i="0" sz="1100" u="none" cap="none" strike="noStrike">
                <a:solidFill>
                  <a:schemeClr val="accent6"/>
                </a:solidFill>
                <a:latin typeface="Calibri"/>
                <a:ea typeface="Calibri"/>
                <a:cs typeface="Calibri"/>
                <a:sym typeface="Calibri"/>
              </a:defRPr>
            </a:lvl4pPr>
            <a:lvl5pPr indent="0" lvl="4" marL="0" marR="0" rtl="0" algn="r">
              <a:spcBef>
                <a:spcPts val="0"/>
              </a:spcBef>
              <a:buNone/>
              <a:defRPr b="0" i="0" sz="1100" u="none" cap="none" strike="noStrike">
                <a:solidFill>
                  <a:schemeClr val="accent6"/>
                </a:solidFill>
                <a:latin typeface="Calibri"/>
                <a:ea typeface="Calibri"/>
                <a:cs typeface="Calibri"/>
                <a:sym typeface="Calibri"/>
              </a:defRPr>
            </a:lvl5pPr>
            <a:lvl6pPr indent="0" lvl="5" marL="0" marR="0" rtl="0" algn="r">
              <a:spcBef>
                <a:spcPts val="0"/>
              </a:spcBef>
              <a:buNone/>
              <a:defRPr b="0" i="0" sz="1100" u="none" cap="none" strike="noStrike">
                <a:solidFill>
                  <a:schemeClr val="accent6"/>
                </a:solidFill>
                <a:latin typeface="Calibri"/>
                <a:ea typeface="Calibri"/>
                <a:cs typeface="Calibri"/>
                <a:sym typeface="Calibri"/>
              </a:defRPr>
            </a:lvl6pPr>
            <a:lvl7pPr indent="0" lvl="6" marL="0" marR="0" rtl="0" algn="r">
              <a:spcBef>
                <a:spcPts val="0"/>
              </a:spcBef>
              <a:buNone/>
              <a:defRPr b="0" i="0" sz="1100" u="none" cap="none" strike="noStrike">
                <a:solidFill>
                  <a:schemeClr val="accent6"/>
                </a:solidFill>
                <a:latin typeface="Calibri"/>
                <a:ea typeface="Calibri"/>
                <a:cs typeface="Calibri"/>
                <a:sym typeface="Calibri"/>
              </a:defRPr>
            </a:lvl7pPr>
            <a:lvl8pPr indent="0" lvl="7" marL="0" marR="0" rtl="0" algn="r">
              <a:spcBef>
                <a:spcPts val="0"/>
              </a:spcBef>
              <a:buNone/>
              <a:defRPr b="0" i="0" sz="1100" u="none" cap="none" strike="noStrike">
                <a:solidFill>
                  <a:schemeClr val="accent6"/>
                </a:solidFill>
                <a:latin typeface="Calibri"/>
                <a:ea typeface="Calibri"/>
                <a:cs typeface="Calibri"/>
                <a:sym typeface="Calibri"/>
              </a:defRPr>
            </a:lvl8pPr>
            <a:lvl9pPr indent="0" lvl="8" marL="0" marR="0" rtl="0" algn="r">
              <a:spcBef>
                <a:spcPts val="0"/>
              </a:spcBef>
              <a:buNone/>
              <a:defRPr b="0" i="0" sz="11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h1a3ff83170dc108f_1_0"/>
          <p:cNvSpPr/>
          <p:nvPr/>
        </p:nvSpPr>
        <p:spPr>
          <a:xfrm>
            <a:off x="8412480" y="-1645920"/>
            <a:ext cx="5669280" cy="5669280"/>
          </a:xfrm>
          <a:prstGeom prst="ellipse">
            <a:avLst/>
          </a:prstGeom>
          <a:solidFill>
            <a:schemeClr val="accent1">
              <a:alpha val="6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h1a3ff83170dc108f_1_0"/>
          <p:cNvSpPr/>
          <p:nvPr/>
        </p:nvSpPr>
        <p:spPr>
          <a:xfrm>
            <a:off x="9692640" y="4846320"/>
            <a:ext cx="3657600" cy="3657600"/>
          </a:xfrm>
          <a:prstGeom prst="ellipse">
            <a:avLst/>
          </a:prstGeom>
          <a:solidFill>
            <a:schemeClr val="accent2">
              <a:alpha val="4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h1a3ff83170dc108f_1_0"/>
          <p:cNvSpPr/>
          <p:nvPr/>
        </p:nvSpPr>
        <p:spPr>
          <a:xfrm>
            <a:off x="822960" y="1188720"/>
            <a:ext cx="868680" cy="8686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Ícono de red inalámbrica" id="33" name="Google Shape;33;h1a3ff83170dc108f_1_0"/>
          <p:cNvPicPr preferRelativeResize="0"/>
          <p:nvPr/>
        </p:nvPicPr>
        <p:blipFill rotWithShape="1">
          <a:blip r:embed="rId3">
            <a:alphaModFix/>
          </a:blip>
          <a:srcRect b="0" l="0" r="0" t="0"/>
          <a:stretch/>
        </p:blipFill>
        <p:spPr>
          <a:xfrm>
            <a:off x="1051560" y="1417320"/>
            <a:ext cx="411480" cy="411480"/>
          </a:xfrm>
          <a:prstGeom prst="rect">
            <a:avLst/>
          </a:prstGeom>
          <a:noFill/>
          <a:ln>
            <a:noFill/>
          </a:ln>
        </p:spPr>
      </p:pic>
      <p:sp>
        <p:nvSpPr>
          <p:cNvPr id="34" name="Google Shape;34;h1a3ff83170dc108f_1_0"/>
          <p:cNvSpPr txBox="1"/>
          <p:nvPr>
            <p:ph type="title"/>
          </p:nvPr>
        </p:nvSpPr>
        <p:spPr>
          <a:xfrm>
            <a:off x="822960" y="2331720"/>
            <a:ext cx="7772400" cy="10972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6600"/>
              <a:buFont typeface="Cambria"/>
              <a:buNone/>
            </a:pPr>
            <a:r>
              <a:rPr b="1" lang="en-US" sz="6600">
                <a:solidFill>
                  <a:schemeClr val="lt1"/>
                </a:solidFill>
              </a:rPr>
              <a:t>NetBot</a:t>
            </a:r>
            <a:endParaRPr sz="6600"/>
          </a:p>
        </p:txBody>
      </p:sp>
      <p:sp>
        <p:nvSpPr>
          <p:cNvPr id="35" name="Google Shape;35;h1a3ff83170dc108f_1_0"/>
          <p:cNvSpPr txBox="1"/>
          <p:nvPr>
            <p:ph idx="1" type="body"/>
          </p:nvPr>
        </p:nvSpPr>
        <p:spPr>
          <a:xfrm>
            <a:off x="822960" y="3520440"/>
            <a:ext cx="731520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5"/>
              </a:buClr>
              <a:buSzPts val="2200"/>
              <a:buNone/>
            </a:pPr>
            <a:r>
              <a:rPr lang="en-US" sz="2200">
                <a:solidFill>
                  <a:schemeClr val="accent5"/>
                </a:solidFill>
              </a:rPr>
              <a:t>Agente inteligente para la gestión de infraestructura de red en eventos</a:t>
            </a:r>
            <a:endParaRPr sz="2200"/>
          </a:p>
        </p:txBody>
      </p:sp>
      <p:sp>
        <p:nvSpPr>
          <p:cNvPr id="36" name="Google Shape;36;h1a3ff83170dc108f_1_0"/>
          <p:cNvSpPr txBox="1"/>
          <p:nvPr/>
        </p:nvSpPr>
        <p:spPr>
          <a:xfrm>
            <a:off x="822960" y="489204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Itamar Carrasco   ·   Bastián Herrera   ·   Francisco Díaz</a:t>
            </a:r>
            <a:endParaRPr b="0" i="0" sz="1800" u="none" cap="none" strike="noStrike">
              <a:solidFill>
                <a:schemeClr val="dk1"/>
              </a:solidFill>
              <a:latin typeface="Calibri"/>
              <a:ea typeface="Calibri"/>
              <a:cs typeface="Calibri"/>
              <a:sym typeface="Calibri"/>
            </a:endParaRPr>
          </a:p>
        </p:txBody>
      </p:sp>
      <p:sp>
        <p:nvSpPr>
          <p:cNvPr id="37" name="Google Shape;37;h1a3ff83170dc108f_1_0"/>
          <p:cNvSpPr txBox="1"/>
          <p:nvPr/>
        </p:nvSpPr>
        <p:spPr>
          <a:xfrm>
            <a:off x="822960" y="5303520"/>
            <a:ext cx="8229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Capstone · PTY4614 · Desarrollo del Proyecto APT — Fase 2</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h1a3ff83170dc108f_1_13"/>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La red de un evento se gestiona a mano</a:t>
            </a:r>
            <a:endParaRPr sz="3600"/>
          </a:p>
        </p:txBody>
      </p:sp>
      <p:sp>
        <p:nvSpPr>
          <p:cNvPr id="44" name="Google Shape;44;h1a3ff83170dc108f_1_13"/>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Desplegar y operar SSIDs, VLANs y puntos de acceso es lento, repetitivo y propenso a errores.</a:t>
            </a:r>
            <a:endParaRPr sz="1600"/>
          </a:p>
        </p:txBody>
      </p:sp>
      <p:sp>
        <p:nvSpPr>
          <p:cNvPr id="45" name="Google Shape;45;h1a3ff83170dc108f_1_13"/>
          <p:cNvSpPr/>
          <p:nvPr/>
        </p:nvSpPr>
        <p:spPr>
          <a:xfrm>
            <a:off x="548640" y="1783080"/>
            <a:ext cx="6858000" cy="1280160"/>
          </a:xfrm>
          <a:prstGeom prst="roundRect">
            <a:avLst>
              <a:gd fmla="val 8571"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h1a3ff83170dc108f_1_13"/>
          <p:cNvSpPr/>
          <p:nvPr/>
        </p:nvSpPr>
        <p:spPr>
          <a:xfrm>
            <a:off x="822960" y="210312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oblema 1" id="47" name="Google Shape;47;h1a3ff83170dc108f_1_13"/>
          <p:cNvPicPr preferRelativeResize="0"/>
          <p:nvPr/>
        </p:nvPicPr>
        <p:blipFill rotWithShape="1">
          <a:blip r:embed="rId3">
            <a:alphaModFix/>
          </a:blip>
          <a:srcRect b="0" l="0" r="0" t="0"/>
          <a:stretch/>
        </p:blipFill>
        <p:spPr>
          <a:xfrm>
            <a:off x="982980" y="2263140"/>
            <a:ext cx="320040" cy="320040"/>
          </a:xfrm>
          <a:prstGeom prst="rect">
            <a:avLst/>
          </a:prstGeom>
          <a:noFill/>
          <a:ln>
            <a:noFill/>
          </a:ln>
        </p:spPr>
      </p:pic>
      <p:sp>
        <p:nvSpPr>
          <p:cNvPr id="48" name="Google Shape;48;h1a3ff83170dc108f_1_13"/>
          <p:cNvSpPr txBox="1"/>
          <p:nvPr/>
        </p:nvSpPr>
        <p:spPr>
          <a:xfrm>
            <a:off x="1737360" y="1965960"/>
            <a:ext cx="5486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US" sz="1800" u="none" cap="none" strike="noStrike">
                <a:solidFill>
                  <a:schemeClr val="dk2"/>
                </a:solidFill>
                <a:latin typeface="Calibri"/>
                <a:ea typeface="Calibri"/>
                <a:cs typeface="Calibri"/>
                <a:sym typeface="Calibri"/>
              </a:rPr>
              <a:t>Despliegue lento, dispositivo por dispositivo</a:t>
            </a:r>
            <a:endParaRPr b="0" i="0" sz="1800" u="none" cap="none" strike="noStrike">
              <a:solidFill>
                <a:schemeClr val="dk1"/>
              </a:solidFill>
              <a:latin typeface="Calibri"/>
              <a:ea typeface="Calibri"/>
              <a:cs typeface="Calibri"/>
              <a:sym typeface="Calibri"/>
            </a:endParaRPr>
          </a:p>
        </p:txBody>
      </p:sp>
      <p:sp>
        <p:nvSpPr>
          <p:cNvPr id="49" name="Google Shape;49;h1a3ff83170dc108f_1_13"/>
          <p:cNvSpPr txBox="1"/>
          <p:nvPr/>
        </p:nvSpPr>
        <p:spPr>
          <a:xfrm>
            <a:off x="1737360" y="2331720"/>
            <a:ext cx="54864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Los puntos de acceso, VLANs y SSIDs se configuran uno a uno, consumiendo gran parte del tiempo de montaje.</a:t>
            </a:r>
            <a:endParaRPr b="0" i="0" sz="1400" u="none" cap="none" strike="noStrike">
              <a:solidFill>
                <a:schemeClr val="dk1"/>
              </a:solidFill>
              <a:latin typeface="Calibri"/>
              <a:ea typeface="Calibri"/>
              <a:cs typeface="Calibri"/>
              <a:sym typeface="Calibri"/>
            </a:endParaRPr>
          </a:p>
        </p:txBody>
      </p:sp>
      <p:sp>
        <p:nvSpPr>
          <p:cNvPr id="50" name="Google Shape;50;h1a3ff83170dc108f_1_13"/>
          <p:cNvSpPr/>
          <p:nvPr/>
        </p:nvSpPr>
        <p:spPr>
          <a:xfrm>
            <a:off x="548640" y="3246120"/>
            <a:ext cx="6858000" cy="1280160"/>
          </a:xfrm>
          <a:prstGeom prst="roundRect">
            <a:avLst>
              <a:gd fmla="val 8571"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h1a3ff83170dc108f_1_13"/>
          <p:cNvSpPr/>
          <p:nvPr/>
        </p:nvSpPr>
        <p:spPr>
          <a:xfrm>
            <a:off x="822960" y="356616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oblema 2" id="52" name="Google Shape;52;h1a3ff83170dc108f_1_13"/>
          <p:cNvPicPr preferRelativeResize="0"/>
          <p:nvPr/>
        </p:nvPicPr>
        <p:blipFill rotWithShape="1">
          <a:blip r:embed="rId4">
            <a:alphaModFix/>
          </a:blip>
          <a:srcRect b="0" l="0" r="0" t="0"/>
          <a:stretch/>
        </p:blipFill>
        <p:spPr>
          <a:xfrm>
            <a:off x="982980" y="3726180"/>
            <a:ext cx="320040" cy="320040"/>
          </a:xfrm>
          <a:prstGeom prst="rect">
            <a:avLst/>
          </a:prstGeom>
          <a:noFill/>
          <a:ln>
            <a:noFill/>
          </a:ln>
        </p:spPr>
      </p:pic>
      <p:sp>
        <p:nvSpPr>
          <p:cNvPr id="53" name="Google Shape;53;h1a3ff83170dc108f_1_13"/>
          <p:cNvSpPr txBox="1"/>
          <p:nvPr/>
        </p:nvSpPr>
        <p:spPr>
          <a:xfrm>
            <a:off x="1737360" y="3429000"/>
            <a:ext cx="5486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US" sz="1800" u="none" cap="none" strike="noStrike">
                <a:solidFill>
                  <a:schemeClr val="dk2"/>
                </a:solidFill>
                <a:latin typeface="Calibri"/>
                <a:ea typeface="Calibri"/>
                <a:cs typeface="Calibri"/>
                <a:sym typeface="Calibri"/>
              </a:rPr>
              <a:t>Errores humanos que se repiten</a:t>
            </a:r>
            <a:endParaRPr b="0" i="0" sz="1800" u="none" cap="none" strike="noStrike">
              <a:solidFill>
                <a:schemeClr val="dk1"/>
              </a:solidFill>
              <a:latin typeface="Calibri"/>
              <a:ea typeface="Calibri"/>
              <a:cs typeface="Calibri"/>
              <a:sym typeface="Calibri"/>
            </a:endParaRPr>
          </a:p>
        </p:txBody>
      </p:sp>
      <p:sp>
        <p:nvSpPr>
          <p:cNvPr id="54" name="Google Shape;54;h1a3ff83170dc108f_1_13"/>
          <p:cNvSpPr txBox="1"/>
          <p:nvPr/>
        </p:nvSpPr>
        <p:spPr>
          <a:xfrm>
            <a:off x="1737360" y="3794760"/>
            <a:ext cx="54864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VLANs duplicadas, SSIDs mal configurados y equipos olvidados, sin validación previa ni respaldo.</a:t>
            </a:r>
            <a:endParaRPr b="0" i="0" sz="1400" u="none" cap="none" strike="noStrike">
              <a:solidFill>
                <a:schemeClr val="dk1"/>
              </a:solidFill>
              <a:latin typeface="Calibri"/>
              <a:ea typeface="Calibri"/>
              <a:cs typeface="Calibri"/>
              <a:sym typeface="Calibri"/>
            </a:endParaRPr>
          </a:p>
        </p:txBody>
      </p:sp>
      <p:sp>
        <p:nvSpPr>
          <p:cNvPr id="55" name="Google Shape;55;h1a3ff83170dc108f_1_13"/>
          <p:cNvSpPr/>
          <p:nvPr/>
        </p:nvSpPr>
        <p:spPr>
          <a:xfrm>
            <a:off x="548640" y="4709160"/>
            <a:ext cx="6858000" cy="1280160"/>
          </a:xfrm>
          <a:prstGeom prst="roundRect">
            <a:avLst>
              <a:gd fmla="val 8571"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h1a3ff83170dc108f_1_13"/>
          <p:cNvSpPr/>
          <p:nvPr/>
        </p:nvSpPr>
        <p:spPr>
          <a:xfrm>
            <a:off x="822960" y="502920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oblema 3" id="57" name="Google Shape;57;h1a3ff83170dc108f_1_13"/>
          <p:cNvPicPr preferRelativeResize="0"/>
          <p:nvPr/>
        </p:nvPicPr>
        <p:blipFill rotWithShape="1">
          <a:blip r:embed="rId5">
            <a:alphaModFix/>
          </a:blip>
          <a:srcRect b="0" l="0" r="0" t="0"/>
          <a:stretch/>
        </p:blipFill>
        <p:spPr>
          <a:xfrm>
            <a:off x="982980" y="5189220"/>
            <a:ext cx="320040" cy="320040"/>
          </a:xfrm>
          <a:prstGeom prst="rect">
            <a:avLst/>
          </a:prstGeom>
          <a:noFill/>
          <a:ln>
            <a:noFill/>
          </a:ln>
        </p:spPr>
      </p:pic>
      <p:sp>
        <p:nvSpPr>
          <p:cNvPr id="58" name="Google Shape;58;h1a3ff83170dc108f_1_13"/>
          <p:cNvSpPr txBox="1"/>
          <p:nvPr/>
        </p:nvSpPr>
        <p:spPr>
          <a:xfrm>
            <a:off x="1737360" y="4892040"/>
            <a:ext cx="5486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US" sz="1800" u="none" cap="none" strike="noStrike">
                <a:solidFill>
                  <a:schemeClr val="dk2"/>
                </a:solidFill>
                <a:latin typeface="Calibri"/>
                <a:ea typeface="Calibri"/>
                <a:cs typeface="Calibri"/>
                <a:sym typeface="Calibri"/>
              </a:rPr>
              <a:t>Sin visibilidad ni trazabilidad</a:t>
            </a:r>
            <a:endParaRPr b="0" i="0" sz="1800" u="none" cap="none" strike="noStrike">
              <a:solidFill>
                <a:schemeClr val="dk1"/>
              </a:solidFill>
              <a:latin typeface="Calibri"/>
              <a:ea typeface="Calibri"/>
              <a:cs typeface="Calibri"/>
              <a:sym typeface="Calibri"/>
            </a:endParaRPr>
          </a:p>
        </p:txBody>
      </p:sp>
      <p:sp>
        <p:nvSpPr>
          <p:cNvPr id="59" name="Google Shape;59;h1a3ff83170dc108f_1_13"/>
          <p:cNvSpPr txBox="1"/>
          <p:nvPr/>
        </p:nvSpPr>
        <p:spPr>
          <a:xfrm>
            <a:off x="1737360" y="5257800"/>
            <a:ext cx="54864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Las fallas se detectan por reclamos de asistentes y los cambios no registran quién, qué ni cuándo.</a:t>
            </a:r>
            <a:endParaRPr b="0" i="0" sz="1400" u="none" cap="none" strike="noStrike">
              <a:solidFill>
                <a:schemeClr val="dk1"/>
              </a:solidFill>
              <a:latin typeface="Calibri"/>
              <a:ea typeface="Calibri"/>
              <a:cs typeface="Calibri"/>
              <a:sym typeface="Calibri"/>
            </a:endParaRPr>
          </a:p>
        </p:txBody>
      </p:sp>
      <p:sp>
        <p:nvSpPr>
          <p:cNvPr id="60" name="Google Shape;60;h1a3ff83170dc108f_1_13"/>
          <p:cNvSpPr/>
          <p:nvPr/>
        </p:nvSpPr>
        <p:spPr>
          <a:xfrm>
            <a:off x="7772400" y="1783080"/>
            <a:ext cx="3867912" cy="4206240"/>
          </a:xfrm>
          <a:prstGeom prst="roundRect">
            <a:avLst>
              <a:gd fmla="val 2837" name="adj"/>
            </a:avLst>
          </a:prstGeom>
          <a:solidFill>
            <a:schemeClr val="accen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h1a3ff83170dc108f_1_13"/>
          <p:cNvSpPr txBox="1"/>
          <p:nvPr/>
        </p:nvSpPr>
        <p:spPr>
          <a:xfrm>
            <a:off x="8092440" y="2103120"/>
            <a:ext cx="3246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000"/>
              <a:buFont typeface="Cambria"/>
              <a:buNone/>
            </a:pPr>
            <a:r>
              <a:rPr b="1" i="0" lang="en-US" sz="2000" u="none" cap="none" strike="noStrike">
                <a:solidFill>
                  <a:schemeClr val="lt1"/>
                </a:solidFill>
                <a:latin typeface="Cambria"/>
                <a:ea typeface="Cambria"/>
                <a:cs typeface="Cambria"/>
                <a:sym typeface="Cambria"/>
              </a:rPr>
              <a:t>El costo de no centralizar</a:t>
            </a:r>
            <a:endParaRPr b="0" i="0" sz="2000" u="none" cap="none" strike="noStrike">
              <a:solidFill>
                <a:schemeClr val="dk1"/>
              </a:solidFill>
              <a:latin typeface="Calibri"/>
              <a:ea typeface="Calibri"/>
              <a:cs typeface="Calibri"/>
              <a:sym typeface="Calibri"/>
            </a:endParaRPr>
          </a:p>
        </p:txBody>
      </p:sp>
      <p:sp>
        <p:nvSpPr>
          <p:cNvPr id="62" name="Google Shape;62;h1a3ff83170dc108f_1_13"/>
          <p:cNvSpPr txBox="1"/>
          <p:nvPr/>
        </p:nvSpPr>
        <p:spPr>
          <a:xfrm>
            <a:off x="8092440" y="2697480"/>
            <a:ext cx="324612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No desplegar la infraestructura a tiempo ni cumplir las expectativas, regulaciones y normativas del evento.</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Pérdidas para los organizadores y riesgo inminente sobre la operación.</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Una oportunidad clara: un sistema centralizado que consulte, supervise y ejecute con control.</a:t>
            </a:r>
            <a:endParaRPr b="0" i="0" sz="1600" u="none" cap="none" strike="noStrike">
              <a:solidFill>
                <a:schemeClr val="dk1"/>
              </a:solidFill>
              <a:latin typeface="Calibri"/>
              <a:ea typeface="Calibri"/>
              <a:cs typeface="Calibri"/>
              <a:sym typeface="Calibri"/>
            </a:endParaRPr>
          </a:p>
        </p:txBody>
      </p:sp>
      <p:sp>
        <p:nvSpPr>
          <p:cNvPr id="63" name="Google Shape;63;h1a3ff83170dc108f_1_13"/>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h1a3ff83170dc108f_1_38"/>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NetBot centraliza, controla y verifica</a:t>
            </a:r>
            <a:endParaRPr sz="3600"/>
          </a:p>
        </p:txBody>
      </p:sp>
      <p:sp>
        <p:nvSpPr>
          <p:cNvPr id="70" name="Google Shape;70;h1a3ff83170dc108f_1_38"/>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Un agente inteligente que une chat, monitoreo y ejecución de cambios sobre UniFi y OPNsense.</a:t>
            </a:r>
            <a:endParaRPr sz="1600"/>
          </a:p>
        </p:txBody>
      </p:sp>
      <p:sp>
        <p:nvSpPr>
          <p:cNvPr id="71" name="Google Shape;71;h1a3ff83170dc108f_1_38"/>
          <p:cNvSpPr/>
          <p:nvPr/>
        </p:nvSpPr>
        <p:spPr>
          <a:xfrm>
            <a:off x="548640" y="1645920"/>
            <a:ext cx="3063240" cy="1600200"/>
          </a:xfrm>
          <a:prstGeom prst="roundRect">
            <a:avLst>
              <a:gd fmla="val 6857"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h1a3ff83170dc108f_1_38"/>
          <p:cNvSpPr/>
          <p:nvPr/>
        </p:nvSpPr>
        <p:spPr>
          <a:xfrm>
            <a:off x="731520" y="182880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acidad 1" id="73" name="Google Shape;73;h1a3ff83170dc108f_1_38"/>
          <p:cNvPicPr preferRelativeResize="0"/>
          <p:nvPr/>
        </p:nvPicPr>
        <p:blipFill rotWithShape="1">
          <a:blip r:embed="rId3">
            <a:alphaModFix/>
          </a:blip>
          <a:srcRect b="0" l="0" r="0" t="0"/>
          <a:stretch/>
        </p:blipFill>
        <p:spPr>
          <a:xfrm>
            <a:off x="845820" y="1943100"/>
            <a:ext cx="228600" cy="228600"/>
          </a:xfrm>
          <a:prstGeom prst="rect">
            <a:avLst/>
          </a:prstGeom>
          <a:noFill/>
          <a:ln>
            <a:noFill/>
          </a:ln>
        </p:spPr>
      </p:pic>
      <p:sp>
        <p:nvSpPr>
          <p:cNvPr id="74" name="Google Shape;74;h1a3ff83170dc108f_1_38"/>
          <p:cNvSpPr txBox="1"/>
          <p:nvPr/>
        </p:nvSpPr>
        <p:spPr>
          <a:xfrm>
            <a:off x="1325880" y="1901952"/>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Chat conversacional</a:t>
            </a:r>
            <a:endParaRPr b="0" i="0" sz="1600" u="none" cap="none" strike="noStrike">
              <a:solidFill>
                <a:schemeClr val="dk1"/>
              </a:solidFill>
              <a:latin typeface="Calibri"/>
              <a:ea typeface="Calibri"/>
              <a:cs typeface="Calibri"/>
              <a:sym typeface="Calibri"/>
            </a:endParaRPr>
          </a:p>
        </p:txBody>
      </p:sp>
      <p:sp>
        <p:nvSpPr>
          <p:cNvPr id="75" name="Google Shape;75;h1a3ff83170dc108f_1_38"/>
          <p:cNvSpPr txBox="1"/>
          <p:nvPr/>
        </p:nvSpPr>
        <p:spPr>
          <a:xfrm>
            <a:off x="731520" y="2423160"/>
            <a:ext cx="2697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Consultas y solicitudes en lenguaje natural, con respuestas basadas en datos reales.</a:t>
            </a:r>
            <a:endParaRPr b="0" i="0" sz="1300" u="none" cap="none" strike="noStrike">
              <a:solidFill>
                <a:schemeClr val="dk1"/>
              </a:solidFill>
              <a:latin typeface="Calibri"/>
              <a:ea typeface="Calibri"/>
              <a:cs typeface="Calibri"/>
              <a:sym typeface="Calibri"/>
            </a:endParaRPr>
          </a:p>
        </p:txBody>
      </p:sp>
      <p:sp>
        <p:nvSpPr>
          <p:cNvPr id="76" name="Google Shape;76;h1a3ff83170dc108f_1_38"/>
          <p:cNvSpPr/>
          <p:nvPr/>
        </p:nvSpPr>
        <p:spPr>
          <a:xfrm>
            <a:off x="3794760" y="1645920"/>
            <a:ext cx="3063240" cy="1600200"/>
          </a:xfrm>
          <a:prstGeom prst="roundRect">
            <a:avLst>
              <a:gd fmla="val 6857"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h1a3ff83170dc108f_1_38"/>
          <p:cNvSpPr/>
          <p:nvPr/>
        </p:nvSpPr>
        <p:spPr>
          <a:xfrm>
            <a:off x="3977640" y="182880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acidad 2" id="78" name="Google Shape;78;h1a3ff83170dc108f_1_38"/>
          <p:cNvPicPr preferRelativeResize="0"/>
          <p:nvPr/>
        </p:nvPicPr>
        <p:blipFill rotWithShape="1">
          <a:blip r:embed="rId4">
            <a:alphaModFix/>
          </a:blip>
          <a:srcRect b="0" l="0" r="0" t="0"/>
          <a:stretch/>
        </p:blipFill>
        <p:spPr>
          <a:xfrm>
            <a:off x="4091940" y="1943100"/>
            <a:ext cx="228600" cy="228600"/>
          </a:xfrm>
          <a:prstGeom prst="rect">
            <a:avLst/>
          </a:prstGeom>
          <a:noFill/>
          <a:ln>
            <a:noFill/>
          </a:ln>
        </p:spPr>
      </p:pic>
      <p:sp>
        <p:nvSpPr>
          <p:cNvPr id="79" name="Google Shape;79;h1a3ff83170dc108f_1_38"/>
          <p:cNvSpPr txBox="1"/>
          <p:nvPr/>
        </p:nvSpPr>
        <p:spPr>
          <a:xfrm>
            <a:off x="4572000" y="1901952"/>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Monitoreo en vivo</a:t>
            </a:r>
            <a:endParaRPr b="0" i="0" sz="1600" u="none" cap="none" strike="noStrike">
              <a:solidFill>
                <a:schemeClr val="dk1"/>
              </a:solidFill>
              <a:latin typeface="Calibri"/>
              <a:ea typeface="Calibri"/>
              <a:cs typeface="Calibri"/>
              <a:sym typeface="Calibri"/>
            </a:endParaRPr>
          </a:p>
        </p:txBody>
      </p:sp>
      <p:sp>
        <p:nvSpPr>
          <p:cNvPr id="80" name="Google Shape;80;h1a3ff83170dc108f_1_38"/>
          <p:cNvSpPr txBox="1"/>
          <p:nvPr/>
        </p:nvSpPr>
        <p:spPr>
          <a:xfrm>
            <a:off x="3977640" y="2423160"/>
            <a:ext cx="2697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Dashboard de APs, redes, alertas y disponibilidad, solo lectura.</a:t>
            </a:r>
            <a:endParaRPr b="0" i="0" sz="1300" u="none" cap="none" strike="noStrike">
              <a:solidFill>
                <a:schemeClr val="dk1"/>
              </a:solidFill>
              <a:latin typeface="Calibri"/>
              <a:ea typeface="Calibri"/>
              <a:cs typeface="Calibri"/>
              <a:sym typeface="Calibri"/>
            </a:endParaRPr>
          </a:p>
        </p:txBody>
      </p:sp>
      <p:sp>
        <p:nvSpPr>
          <p:cNvPr id="81" name="Google Shape;81;h1a3ff83170dc108f_1_38"/>
          <p:cNvSpPr/>
          <p:nvPr/>
        </p:nvSpPr>
        <p:spPr>
          <a:xfrm>
            <a:off x="548640" y="3429000"/>
            <a:ext cx="3063240" cy="1600200"/>
          </a:xfrm>
          <a:prstGeom prst="roundRect">
            <a:avLst>
              <a:gd fmla="val 6857"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h1a3ff83170dc108f_1_38"/>
          <p:cNvSpPr/>
          <p:nvPr/>
        </p:nvSpPr>
        <p:spPr>
          <a:xfrm>
            <a:off x="731520" y="36118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acidad 3" id="83" name="Google Shape;83;h1a3ff83170dc108f_1_38"/>
          <p:cNvPicPr preferRelativeResize="0"/>
          <p:nvPr/>
        </p:nvPicPr>
        <p:blipFill rotWithShape="1">
          <a:blip r:embed="rId5">
            <a:alphaModFix/>
          </a:blip>
          <a:srcRect b="0" l="0" r="0" t="0"/>
          <a:stretch/>
        </p:blipFill>
        <p:spPr>
          <a:xfrm>
            <a:off x="845820" y="3726180"/>
            <a:ext cx="228600" cy="228600"/>
          </a:xfrm>
          <a:prstGeom prst="rect">
            <a:avLst/>
          </a:prstGeom>
          <a:noFill/>
          <a:ln>
            <a:noFill/>
          </a:ln>
        </p:spPr>
      </p:pic>
      <p:sp>
        <p:nvSpPr>
          <p:cNvPr id="84" name="Google Shape;84;h1a3ff83170dc108f_1_38"/>
          <p:cNvSpPr txBox="1"/>
          <p:nvPr/>
        </p:nvSpPr>
        <p:spPr>
          <a:xfrm>
            <a:off x="1325880" y="3685032"/>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Cambios controlados</a:t>
            </a:r>
            <a:endParaRPr b="0" i="0" sz="1600" u="none" cap="none" strike="noStrike">
              <a:solidFill>
                <a:schemeClr val="dk1"/>
              </a:solidFill>
              <a:latin typeface="Calibri"/>
              <a:ea typeface="Calibri"/>
              <a:cs typeface="Calibri"/>
              <a:sym typeface="Calibri"/>
            </a:endParaRPr>
          </a:p>
        </p:txBody>
      </p:sp>
      <p:sp>
        <p:nvSpPr>
          <p:cNvPr id="85" name="Google Shape;85;h1a3ff83170dc108f_1_38"/>
          <p:cNvSpPr txBox="1"/>
          <p:nvPr/>
        </p:nvSpPr>
        <p:spPr>
          <a:xfrm>
            <a:off x="731520" y="4206240"/>
            <a:ext cx="2697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VLAN, SSID por CSV y reinicios con roles, confirmación y auditoría.</a:t>
            </a:r>
            <a:endParaRPr b="0" i="0" sz="1300" u="none" cap="none" strike="noStrike">
              <a:solidFill>
                <a:schemeClr val="dk1"/>
              </a:solidFill>
              <a:latin typeface="Calibri"/>
              <a:ea typeface="Calibri"/>
              <a:cs typeface="Calibri"/>
              <a:sym typeface="Calibri"/>
            </a:endParaRPr>
          </a:p>
        </p:txBody>
      </p:sp>
      <p:sp>
        <p:nvSpPr>
          <p:cNvPr id="86" name="Google Shape;86;h1a3ff83170dc108f_1_38"/>
          <p:cNvSpPr/>
          <p:nvPr/>
        </p:nvSpPr>
        <p:spPr>
          <a:xfrm>
            <a:off x="3794760" y="3429000"/>
            <a:ext cx="3063240" cy="1600200"/>
          </a:xfrm>
          <a:prstGeom prst="roundRect">
            <a:avLst>
              <a:gd fmla="val 6857"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h1a3ff83170dc108f_1_38"/>
          <p:cNvSpPr/>
          <p:nvPr/>
        </p:nvSpPr>
        <p:spPr>
          <a:xfrm>
            <a:off x="3977640" y="36118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acidad 4" id="88" name="Google Shape;88;h1a3ff83170dc108f_1_38"/>
          <p:cNvPicPr preferRelativeResize="0"/>
          <p:nvPr/>
        </p:nvPicPr>
        <p:blipFill rotWithShape="1">
          <a:blip r:embed="rId6">
            <a:alphaModFix/>
          </a:blip>
          <a:srcRect b="0" l="0" r="0" t="0"/>
          <a:stretch/>
        </p:blipFill>
        <p:spPr>
          <a:xfrm>
            <a:off x="4091940" y="3726180"/>
            <a:ext cx="228600" cy="228600"/>
          </a:xfrm>
          <a:prstGeom prst="rect">
            <a:avLst/>
          </a:prstGeom>
          <a:noFill/>
          <a:ln>
            <a:noFill/>
          </a:ln>
        </p:spPr>
      </p:pic>
      <p:sp>
        <p:nvSpPr>
          <p:cNvPr id="89" name="Google Shape;89;h1a3ff83170dc108f_1_38"/>
          <p:cNvSpPr txBox="1"/>
          <p:nvPr/>
        </p:nvSpPr>
        <p:spPr>
          <a:xfrm>
            <a:off x="4572000" y="3685032"/>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Tickets y agentes</a:t>
            </a:r>
            <a:endParaRPr b="0" i="0" sz="1600" u="none" cap="none" strike="noStrike">
              <a:solidFill>
                <a:schemeClr val="dk1"/>
              </a:solidFill>
              <a:latin typeface="Calibri"/>
              <a:ea typeface="Calibri"/>
              <a:cs typeface="Calibri"/>
              <a:sym typeface="Calibri"/>
            </a:endParaRPr>
          </a:p>
        </p:txBody>
      </p:sp>
      <p:sp>
        <p:nvSpPr>
          <p:cNvPr id="90" name="Google Shape;90;h1a3ff83170dc108f_1_38"/>
          <p:cNvSpPr txBox="1"/>
          <p:nvPr/>
        </p:nvSpPr>
        <p:spPr>
          <a:xfrm>
            <a:off x="3977640" y="4206240"/>
            <a:ext cx="2697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Agentes en background detectan incidentes, crean tickets y notifican.</a:t>
            </a:r>
            <a:endParaRPr b="0" i="0" sz="1300" u="none" cap="none" strike="noStrike">
              <a:solidFill>
                <a:schemeClr val="dk1"/>
              </a:solidFill>
              <a:latin typeface="Calibri"/>
              <a:ea typeface="Calibri"/>
              <a:cs typeface="Calibri"/>
              <a:sym typeface="Calibri"/>
            </a:endParaRPr>
          </a:p>
        </p:txBody>
      </p:sp>
      <p:sp>
        <p:nvSpPr>
          <p:cNvPr id="91" name="Google Shape;91;h1a3ff83170dc108f_1_38"/>
          <p:cNvSpPr/>
          <p:nvPr/>
        </p:nvSpPr>
        <p:spPr>
          <a:xfrm>
            <a:off x="7178040" y="1645920"/>
            <a:ext cx="4462272" cy="3383280"/>
          </a:xfrm>
          <a:prstGeom prst="roundRect">
            <a:avLst>
              <a:gd fmla="val 3243" name="adj"/>
            </a:avLst>
          </a:prstGeom>
          <a:solidFill>
            <a:schemeClr val="dk2"/>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h1a3ff83170dc108f_1_38"/>
          <p:cNvSpPr txBox="1"/>
          <p:nvPr/>
        </p:nvSpPr>
        <p:spPr>
          <a:xfrm>
            <a:off x="7498080" y="1874520"/>
            <a:ext cx="38404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mbria"/>
              <a:buNone/>
            </a:pPr>
            <a:r>
              <a:rPr b="1" i="0" lang="en-US" sz="1800" u="none" cap="none" strike="noStrike">
                <a:solidFill>
                  <a:schemeClr val="lt1"/>
                </a:solidFill>
                <a:latin typeface="Cambria"/>
                <a:ea typeface="Cambria"/>
                <a:cs typeface="Cambria"/>
                <a:sym typeface="Cambria"/>
              </a:rPr>
              <a:t>Cómo se ejecuta un cambio</a:t>
            </a:r>
            <a:endParaRPr b="0" i="0" sz="1800" u="none" cap="none" strike="noStrike">
              <a:solidFill>
                <a:schemeClr val="dk1"/>
              </a:solidFill>
              <a:latin typeface="Calibri"/>
              <a:ea typeface="Calibri"/>
              <a:cs typeface="Calibri"/>
              <a:sym typeface="Calibri"/>
            </a:endParaRPr>
          </a:p>
        </p:txBody>
      </p:sp>
      <p:sp>
        <p:nvSpPr>
          <p:cNvPr id="93" name="Google Shape;93;h1a3ff83170dc108f_1_38"/>
          <p:cNvSpPr/>
          <p:nvPr/>
        </p:nvSpPr>
        <p:spPr>
          <a:xfrm>
            <a:off x="7498080" y="2423160"/>
            <a:ext cx="384048" cy="38404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h1a3ff83170dc108f_1_38"/>
          <p:cNvSpPr txBox="1"/>
          <p:nvPr/>
        </p:nvSpPr>
        <p:spPr>
          <a:xfrm>
            <a:off x="7498080" y="2423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95" name="Google Shape;95;h1a3ff83170dc108f_1_38"/>
          <p:cNvSpPr txBox="1"/>
          <p:nvPr/>
        </p:nvSpPr>
        <p:spPr>
          <a:xfrm>
            <a:off x="8046720" y="2386584"/>
            <a:ext cx="3383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El técnico pide el cambio por chat o dashboard</a:t>
            </a:r>
            <a:endParaRPr b="0" i="0" sz="1400" u="none" cap="none" strike="noStrike">
              <a:solidFill>
                <a:schemeClr val="dk1"/>
              </a:solidFill>
              <a:latin typeface="Calibri"/>
              <a:ea typeface="Calibri"/>
              <a:cs typeface="Calibri"/>
              <a:sym typeface="Calibri"/>
            </a:endParaRPr>
          </a:p>
        </p:txBody>
      </p:sp>
      <p:sp>
        <p:nvSpPr>
          <p:cNvPr id="96" name="Google Shape;96;h1a3ff83170dc108f_1_38"/>
          <p:cNvSpPr/>
          <p:nvPr/>
        </p:nvSpPr>
        <p:spPr>
          <a:xfrm>
            <a:off x="7498080" y="3063240"/>
            <a:ext cx="384048" cy="38404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h1a3ff83170dc108f_1_38"/>
          <p:cNvSpPr txBox="1"/>
          <p:nvPr/>
        </p:nvSpPr>
        <p:spPr>
          <a:xfrm>
            <a:off x="7498080" y="30632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98" name="Google Shape;98;h1a3ff83170dc108f_1_38"/>
          <p:cNvSpPr txBox="1"/>
          <p:nvPr/>
        </p:nvSpPr>
        <p:spPr>
          <a:xfrm>
            <a:off x="8046720" y="3026664"/>
            <a:ext cx="3383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NetBot valida el rol, reserva la VLAN y propone la acción</a:t>
            </a:r>
            <a:endParaRPr b="0" i="0" sz="1400" u="none" cap="none" strike="noStrike">
              <a:solidFill>
                <a:schemeClr val="dk1"/>
              </a:solidFill>
              <a:latin typeface="Calibri"/>
              <a:ea typeface="Calibri"/>
              <a:cs typeface="Calibri"/>
              <a:sym typeface="Calibri"/>
            </a:endParaRPr>
          </a:p>
        </p:txBody>
      </p:sp>
      <p:sp>
        <p:nvSpPr>
          <p:cNvPr id="99" name="Google Shape;99;h1a3ff83170dc108f_1_38"/>
          <p:cNvSpPr/>
          <p:nvPr/>
        </p:nvSpPr>
        <p:spPr>
          <a:xfrm>
            <a:off x="7498080" y="3703320"/>
            <a:ext cx="384048" cy="38404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h1a3ff83170dc108f_1_38"/>
          <p:cNvSpPr txBox="1"/>
          <p:nvPr/>
        </p:nvSpPr>
        <p:spPr>
          <a:xfrm>
            <a:off x="7498080" y="37033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01" name="Google Shape;101;h1a3ff83170dc108f_1_38"/>
          <p:cNvSpPr txBox="1"/>
          <p:nvPr/>
        </p:nvSpPr>
        <p:spPr>
          <a:xfrm>
            <a:off x="8046720" y="3666744"/>
            <a:ext cx="3383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El usuario confirma de forma explícita</a:t>
            </a:r>
            <a:endParaRPr b="0" i="0" sz="1400" u="none" cap="none" strike="noStrike">
              <a:solidFill>
                <a:schemeClr val="dk1"/>
              </a:solidFill>
              <a:latin typeface="Calibri"/>
              <a:ea typeface="Calibri"/>
              <a:cs typeface="Calibri"/>
              <a:sym typeface="Calibri"/>
            </a:endParaRPr>
          </a:p>
        </p:txBody>
      </p:sp>
      <p:sp>
        <p:nvSpPr>
          <p:cNvPr id="102" name="Google Shape;102;h1a3ff83170dc108f_1_38"/>
          <p:cNvSpPr/>
          <p:nvPr/>
        </p:nvSpPr>
        <p:spPr>
          <a:xfrm>
            <a:off x="7498080" y="4343400"/>
            <a:ext cx="384048" cy="38404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h1a3ff83170dc108f_1_38"/>
          <p:cNvSpPr txBox="1"/>
          <p:nvPr/>
        </p:nvSpPr>
        <p:spPr>
          <a:xfrm>
            <a:off x="7498080" y="43434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104" name="Google Shape;104;h1a3ff83170dc108f_1_38"/>
          <p:cNvSpPr txBox="1"/>
          <p:nvPr/>
        </p:nvSpPr>
        <p:spPr>
          <a:xfrm>
            <a:off x="8046720" y="4306824"/>
            <a:ext cx="3383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Ejecuta, verifica y revierte si falla; todo queda auditado</a:t>
            </a:r>
            <a:endParaRPr b="0" i="0" sz="1400" u="none" cap="none" strike="noStrike">
              <a:solidFill>
                <a:schemeClr val="dk1"/>
              </a:solidFill>
              <a:latin typeface="Calibri"/>
              <a:ea typeface="Calibri"/>
              <a:cs typeface="Calibri"/>
              <a:sym typeface="Calibri"/>
            </a:endParaRPr>
          </a:p>
        </p:txBody>
      </p:sp>
      <p:sp>
        <p:nvSpPr>
          <p:cNvPr id="105" name="Google Shape;105;h1a3ff83170dc108f_1_38"/>
          <p:cNvSpPr/>
          <p:nvPr/>
        </p:nvSpPr>
        <p:spPr>
          <a:xfrm>
            <a:off x="548640" y="5257800"/>
            <a:ext cx="2651760" cy="960120"/>
          </a:xfrm>
          <a:prstGeom prst="roundRect">
            <a:avLst>
              <a:gd fmla="val 11429"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h1a3ff83170dc108f_1_38"/>
          <p:cNvSpPr txBox="1"/>
          <p:nvPr/>
        </p:nvSpPr>
        <p:spPr>
          <a:xfrm>
            <a:off x="731520" y="5349240"/>
            <a:ext cx="1280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−70%</a:t>
            </a:r>
            <a:endParaRPr b="0" i="0" sz="2600" u="none" cap="none" strike="noStrike">
              <a:solidFill>
                <a:schemeClr val="dk1"/>
              </a:solidFill>
              <a:latin typeface="Calibri"/>
              <a:ea typeface="Calibri"/>
              <a:cs typeface="Calibri"/>
              <a:sym typeface="Calibri"/>
            </a:endParaRPr>
          </a:p>
        </p:txBody>
      </p:sp>
      <p:sp>
        <p:nvSpPr>
          <p:cNvPr id="107" name="Google Shape;107;h1a3ff83170dc108f_1_38"/>
          <p:cNvSpPr txBox="1"/>
          <p:nvPr/>
        </p:nvSpPr>
        <p:spPr>
          <a:xfrm>
            <a:off x="2011680" y="5349240"/>
            <a:ext cx="10789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tiempo de despliegue de SSIDs con carga CSV</a:t>
            </a:r>
            <a:endParaRPr b="0" i="0" sz="1200" u="none" cap="none" strike="noStrike">
              <a:solidFill>
                <a:schemeClr val="dk1"/>
              </a:solidFill>
              <a:latin typeface="Calibri"/>
              <a:ea typeface="Calibri"/>
              <a:cs typeface="Calibri"/>
              <a:sym typeface="Calibri"/>
            </a:endParaRPr>
          </a:p>
        </p:txBody>
      </p:sp>
      <p:sp>
        <p:nvSpPr>
          <p:cNvPr id="108" name="Google Shape;108;h1a3ff83170dc108f_1_38"/>
          <p:cNvSpPr/>
          <p:nvPr/>
        </p:nvSpPr>
        <p:spPr>
          <a:xfrm>
            <a:off x="3362249" y="5257800"/>
            <a:ext cx="2651760" cy="960120"/>
          </a:xfrm>
          <a:prstGeom prst="roundRect">
            <a:avLst>
              <a:gd fmla="val 11429"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h1a3ff83170dc108f_1_38"/>
          <p:cNvSpPr txBox="1"/>
          <p:nvPr/>
        </p:nvSpPr>
        <p:spPr>
          <a:xfrm>
            <a:off x="3545129" y="5349240"/>
            <a:ext cx="1280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0</a:t>
            </a:r>
            <a:endParaRPr b="0" i="0" sz="2600" u="none" cap="none" strike="noStrike">
              <a:solidFill>
                <a:schemeClr val="dk1"/>
              </a:solidFill>
              <a:latin typeface="Calibri"/>
              <a:ea typeface="Calibri"/>
              <a:cs typeface="Calibri"/>
              <a:sym typeface="Calibri"/>
            </a:endParaRPr>
          </a:p>
        </p:txBody>
      </p:sp>
      <p:sp>
        <p:nvSpPr>
          <p:cNvPr id="110" name="Google Shape;110;h1a3ff83170dc108f_1_38"/>
          <p:cNvSpPr txBox="1"/>
          <p:nvPr/>
        </p:nvSpPr>
        <p:spPr>
          <a:xfrm>
            <a:off x="4825289" y="5349240"/>
            <a:ext cx="10789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colisiones de VLAN gracias a la reserva</a:t>
            </a:r>
            <a:endParaRPr b="0" i="0" sz="1200" u="none" cap="none" strike="noStrike">
              <a:solidFill>
                <a:schemeClr val="dk1"/>
              </a:solidFill>
              <a:latin typeface="Calibri"/>
              <a:ea typeface="Calibri"/>
              <a:cs typeface="Calibri"/>
              <a:sym typeface="Calibri"/>
            </a:endParaRPr>
          </a:p>
        </p:txBody>
      </p:sp>
      <p:sp>
        <p:nvSpPr>
          <p:cNvPr id="111" name="Google Shape;111;h1a3ff83170dc108f_1_38"/>
          <p:cNvSpPr/>
          <p:nvPr/>
        </p:nvSpPr>
        <p:spPr>
          <a:xfrm>
            <a:off x="6175858" y="5257800"/>
            <a:ext cx="2651760" cy="960120"/>
          </a:xfrm>
          <a:prstGeom prst="roundRect">
            <a:avLst>
              <a:gd fmla="val 11429"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h1a3ff83170dc108f_1_38"/>
          <p:cNvSpPr txBox="1"/>
          <p:nvPr/>
        </p:nvSpPr>
        <p:spPr>
          <a:xfrm>
            <a:off x="6358738" y="5349240"/>
            <a:ext cx="1280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&lt; 2 min</a:t>
            </a:r>
            <a:endParaRPr b="0" i="0" sz="2600" u="none" cap="none" strike="noStrike">
              <a:solidFill>
                <a:schemeClr val="dk1"/>
              </a:solidFill>
              <a:latin typeface="Calibri"/>
              <a:ea typeface="Calibri"/>
              <a:cs typeface="Calibri"/>
              <a:sym typeface="Calibri"/>
            </a:endParaRPr>
          </a:p>
        </p:txBody>
      </p:sp>
      <p:sp>
        <p:nvSpPr>
          <p:cNvPr id="113" name="Google Shape;113;h1a3ff83170dc108f_1_38"/>
          <p:cNvSpPr txBox="1"/>
          <p:nvPr/>
        </p:nvSpPr>
        <p:spPr>
          <a:xfrm>
            <a:off x="7638898" y="5349240"/>
            <a:ext cx="10789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para detectar la caída de un AP</a:t>
            </a:r>
            <a:endParaRPr b="0" i="0" sz="1200" u="none" cap="none" strike="noStrike">
              <a:solidFill>
                <a:schemeClr val="dk1"/>
              </a:solidFill>
              <a:latin typeface="Calibri"/>
              <a:ea typeface="Calibri"/>
              <a:cs typeface="Calibri"/>
              <a:sym typeface="Calibri"/>
            </a:endParaRPr>
          </a:p>
        </p:txBody>
      </p:sp>
      <p:sp>
        <p:nvSpPr>
          <p:cNvPr id="114" name="Google Shape;114;h1a3ff83170dc108f_1_38"/>
          <p:cNvSpPr/>
          <p:nvPr/>
        </p:nvSpPr>
        <p:spPr>
          <a:xfrm>
            <a:off x="8989466" y="5257800"/>
            <a:ext cx="2651760" cy="960120"/>
          </a:xfrm>
          <a:prstGeom prst="roundRect">
            <a:avLst>
              <a:gd fmla="val 11429"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h1a3ff83170dc108f_1_38"/>
          <p:cNvSpPr txBox="1"/>
          <p:nvPr/>
        </p:nvSpPr>
        <p:spPr>
          <a:xfrm>
            <a:off x="9172346" y="5349240"/>
            <a:ext cx="1280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100%</a:t>
            </a:r>
            <a:endParaRPr b="0" i="0" sz="2600" u="none" cap="none" strike="noStrike">
              <a:solidFill>
                <a:schemeClr val="dk1"/>
              </a:solidFill>
              <a:latin typeface="Calibri"/>
              <a:ea typeface="Calibri"/>
              <a:cs typeface="Calibri"/>
              <a:sym typeface="Calibri"/>
            </a:endParaRPr>
          </a:p>
        </p:txBody>
      </p:sp>
      <p:sp>
        <p:nvSpPr>
          <p:cNvPr id="116" name="Google Shape;116;h1a3ff83170dc108f_1_38"/>
          <p:cNvSpPr txBox="1"/>
          <p:nvPr/>
        </p:nvSpPr>
        <p:spPr>
          <a:xfrm>
            <a:off x="10452506" y="5349240"/>
            <a:ext cx="10789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de los cambios con trazabilidad</a:t>
            </a:r>
            <a:endParaRPr b="0" i="0" sz="1200" u="none" cap="none" strike="noStrike">
              <a:solidFill>
                <a:schemeClr val="dk1"/>
              </a:solidFill>
              <a:latin typeface="Calibri"/>
              <a:ea typeface="Calibri"/>
              <a:cs typeface="Calibri"/>
              <a:sym typeface="Calibri"/>
            </a:endParaRPr>
          </a:p>
        </p:txBody>
      </p:sp>
      <p:sp>
        <p:nvSpPr>
          <p:cNvPr id="117" name="Google Shape;117;h1a3ff83170dc108f_1_38"/>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h1a3ff83170dc108f_1_91"/>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Vínculo con el perfil de egreso</a:t>
            </a:r>
            <a:endParaRPr sz="3600"/>
          </a:p>
        </p:txBody>
      </p:sp>
      <p:sp>
        <p:nvSpPr>
          <p:cNvPr id="124" name="Google Shape;124;h1a3ff83170dc108f_1_91"/>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NetBot pone en práctica cuatro competencias centrales del plan de estudio.</a:t>
            </a:r>
            <a:endParaRPr sz="1600"/>
          </a:p>
        </p:txBody>
      </p:sp>
      <p:graphicFrame>
        <p:nvGraphicFramePr>
          <p:cNvPr id="125" name="Google Shape;125;h1a3ff83170dc108f_1_91"/>
          <p:cNvGraphicFramePr/>
          <p:nvPr/>
        </p:nvGraphicFramePr>
        <p:xfrm>
          <a:off x="548640" y="1783080"/>
          <a:ext cx="3000000" cy="3000000"/>
        </p:xfrm>
        <a:graphic>
          <a:graphicData uri="http://schemas.openxmlformats.org/drawingml/2006/table">
            <a:tbl>
              <a:tblPr>
                <a:noFill/>
                <a:tableStyleId>{01B2D784-E343-46B2-B04E-FF6B2C4F25A7}</a:tableStyleId>
              </a:tblPr>
              <a:tblGrid>
                <a:gridCol w="731525"/>
                <a:gridCol w="4206250"/>
                <a:gridCol w="6153900"/>
              </a:tblGrid>
              <a:tr h="457200">
                <a:tc>
                  <a:txBody>
                    <a:bodyPr/>
                    <a:lstStyle/>
                    <a:p>
                      <a:pPr indent="0" lvl="0" marL="0" marR="0" rtl="0" algn="l">
                        <a:spcBef>
                          <a:spcPts val="0"/>
                        </a:spcBef>
                        <a:spcAft>
                          <a:spcPts val="0"/>
                        </a:spcAft>
                        <a:buClr>
                          <a:srgbClr val="FFFFFF"/>
                        </a:buClr>
                        <a:buSzPts val="1500"/>
                        <a:buFont typeface="Calibri"/>
                        <a:buNone/>
                      </a:pPr>
                      <a:r>
                        <a:rPr b="1" lang="en-US" sz="1500" u="none" cap="none" strike="noStrike">
                          <a:solidFill>
                            <a:srgbClr val="FFFFFF"/>
                          </a:solidFill>
                        </a:rPr>
                        <a:t>#</a:t>
                      </a:r>
                      <a:endParaRPr sz="15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028090"/>
                    </a:solidFill>
                  </a:tcPr>
                </a:tc>
                <a:tc>
                  <a:txBody>
                    <a:bodyPr/>
                    <a:lstStyle/>
                    <a:p>
                      <a:pPr indent="0" lvl="0" marL="0" marR="0" rtl="0" algn="l">
                        <a:spcBef>
                          <a:spcPts val="0"/>
                        </a:spcBef>
                        <a:spcAft>
                          <a:spcPts val="0"/>
                        </a:spcAft>
                        <a:buClr>
                          <a:srgbClr val="FFFFFF"/>
                        </a:buClr>
                        <a:buSzPts val="1500"/>
                        <a:buFont typeface="Calibri"/>
                        <a:buNone/>
                      </a:pPr>
                      <a:r>
                        <a:rPr b="1" lang="en-US" sz="1500" u="none" cap="none" strike="noStrike">
                          <a:solidFill>
                            <a:srgbClr val="FFFFFF"/>
                          </a:solidFill>
                        </a:rPr>
                        <a:t>Competencia del perfil de egreso</a:t>
                      </a:r>
                      <a:endParaRPr sz="15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028090"/>
                    </a:solidFill>
                  </a:tcPr>
                </a:tc>
                <a:tc>
                  <a:txBody>
                    <a:bodyPr/>
                    <a:lstStyle/>
                    <a:p>
                      <a:pPr indent="0" lvl="0" marL="0" marR="0" rtl="0" algn="l">
                        <a:spcBef>
                          <a:spcPts val="0"/>
                        </a:spcBef>
                        <a:spcAft>
                          <a:spcPts val="0"/>
                        </a:spcAft>
                        <a:buClr>
                          <a:srgbClr val="FFFFFF"/>
                        </a:buClr>
                        <a:buSzPts val="1500"/>
                        <a:buFont typeface="Calibri"/>
                        <a:buNone/>
                      </a:pPr>
                      <a:r>
                        <a:rPr b="1" lang="en-US" sz="1500" u="none" cap="none" strike="noStrike">
                          <a:solidFill>
                            <a:srgbClr val="FFFFFF"/>
                          </a:solidFill>
                        </a:rPr>
                        <a:t>Cómo se evidencia en NetBot</a:t>
                      </a:r>
                      <a:endParaRPr sz="15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028090"/>
                    </a:solidFill>
                  </a:tcPr>
                </a:tc>
              </a:tr>
              <a:tr h="960125">
                <a:tc>
                  <a:txBody>
                    <a:bodyPr/>
                    <a:lstStyle/>
                    <a:p>
                      <a:pPr indent="0" lvl="0" marL="0" marR="0" rtl="0" algn="ctr">
                        <a:spcBef>
                          <a:spcPts val="0"/>
                        </a:spcBef>
                        <a:spcAft>
                          <a:spcPts val="0"/>
                        </a:spcAft>
                        <a:buClr>
                          <a:srgbClr val="028090"/>
                        </a:buClr>
                        <a:buSzPts val="2000"/>
                        <a:buFont typeface="Calibri"/>
                        <a:buNone/>
                      </a:pPr>
                      <a:r>
                        <a:rPr b="1" lang="en-US" sz="2000" u="none" cap="none" strike="noStrike">
                          <a:solidFill>
                            <a:srgbClr val="028090"/>
                          </a:solidFill>
                        </a:rPr>
                        <a:t>1</a:t>
                      </a:r>
                      <a:endParaRPr sz="20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42A2E"/>
                        </a:buClr>
                        <a:buSzPts val="1600"/>
                        <a:buFont typeface="Calibri"/>
                        <a:buNone/>
                      </a:pPr>
                      <a:r>
                        <a:rPr b="1" lang="en-US" sz="1600" u="none" cap="none" strike="noStrike">
                          <a:solidFill>
                            <a:srgbClr val="042A2E"/>
                          </a:solidFill>
                        </a:rPr>
                        <a:t>Diseño de Software</a:t>
                      </a:r>
                      <a:endParaRPr sz="1200" u="none" cap="none" strike="noStrike"/>
                    </a:p>
                    <a:p>
                      <a:pPr indent="0" lvl="0" marL="0" marR="0" rtl="0" algn="l">
                        <a:spcBef>
                          <a:spcPts val="0"/>
                        </a:spcBef>
                        <a:spcAft>
                          <a:spcPts val="0"/>
                        </a:spcAft>
                        <a:buClr>
                          <a:srgbClr val="4B6C70"/>
                        </a:buClr>
                        <a:buSzPts val="1200"/>
                        <a:buFont typeface="Calibri"/>
                        <a:buNone/>
                      </a:pPr>
                      <a:r>
                        <a:rPr lang="en-US" sz="1200" u="none" cap="none" strike="noStrike">
                          <a:solidFill>
                            <a:srgbClr val="4B6C70"/>
                          </a:solidFill>
                        </a:rPr>
                        <a:t>Arquitectura de componentes para usuarios, monitoreo e integración.</a:t>
                      </a:r>
                      <a:endParaRPr sz="12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B2E33"/>
                        </a:buClr>
                        <a:buSzPts val="1300"/>
                        <a:buFont typeface="Calibri"/>
                        <a:buNone/>
                      </a:pPr>
                      <a:r>
                        <a:rPr lang="en-US" sz="1300" u="none" cap="none" strike="noStrike">
                          <a:solidFill>
                            <a:srgbClr val="0B2E33"/>
                          </a:solidFill>
                        </a:rPr>
                        <a:t>Arquitectura modular por componentes (autenticación, monitoreo, chat, cambios, tickets y agentes), documento de diseño y 19 historias con criterios de aceptación. 101 pruebas automatizadas aprobadas.</a:t>
                      </a:r>
                      <a:endParaRPr sz="13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r>
              <a:tr h="960125">
                <a:tc>
                  <a:txBody>
                    <a:bodyPr/>
                    <a:lstStyle/>
                    <a:p>
                      <a:pPr indent="0" lvl="0" marL="0" marR="0" rtl="0" algn="ctr">
                        <a:spcBef>
                          <a:spcPts val="0"/>
                        </a:spcBef>
                        <a:spcAft>
                          <a:spcPts val="0"/>
                        </a:spcAft>
                        <a:buClr>
                          <a:srgbClr val="028090"/>
                        </a:buClr>
                        <a:buSzPts val="2000"/>
                        <a:buFont typeface="Calibri"/>
                        <a:buNone/>
                      </a:pPr>
                      <a:r>
                        <a:rPr b="1" lang="en-US" sz="2000" u="none" cap="none" strike="noStrike">
                          <a:solidFill>
                            <a:srgbClr val="028090"/>
                          </a:solidFill>
                        </a:rPr>
                        <a:t>2</a:t>
                      </a:r>
                      <a:endParaRPr sz="20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42A2E"/>
                        </a:buClr>
                        <a:buSzPts val="1600"/>
                        <a:buFont typeface="Calibri"/>
                        <a:buNone/>
                      </a:pPr>
                      <a:r>
                        <a:rPr b="1" lang="en-US" sz="1600" u="none" cap="none" strike="noStrike">
                          <a:solidFill>
                            <a:srgbClr val="042A2E"/>
                          </a:solidFill>
                        </a:rPr>
                        <a:t>Gestión de Información</a:t>
                      </a:r>
                      <a:endParaRPr sz="1200" u="none" cap="none" strike="noStrike"/>
                    </a:p>
                    <a:p>
                      <a:pPr indent="0" lvl="0" marL="0" marR="0" rtl="0" algn="l">
                        <a:spcBef>
                          <a:spcPts val="0"/>
                        </a:spcBef>
                        <a:spcAft>
                          <a:spcPts val="0"/>
                        </a:spcAft>
                        <a:buClr>
                          <a:srgbClr val="4B6C70"/>
                        </a:buClr>
                        <a:buSzPts val="1200"/>
                        <a:buFont typeface="Calibri"/>
                        <a:buNone/>
                      </a:pPr>
                      <a:r>
                        <a:rPr lang="en-US" sz="1200" u="none" cap="none" strike="noStrike">
                          <a:solidFill>
                            <a:srgbClr val="4B6C70"/>
                          </a:solidFill>
                        </a:rPr>
                        <a:t>Datos de usuarios, dispositivos y operaciones de red.</a:t>
                      </a:r>
                      <a:endParaRPr sz="12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B2E33"/>
                        </a:buClr>
                        <a:buSzPts val="1300"/>
                        <a:buFont typeface="Calibri"/>
                        <a:buNone/>
                      </a:pPr>
                      <a:r>
                        <a:rPr lang="en-US" sz="1300" u="none" cap="none" strike="noStrike">
                          <a:solidFill>
                            <a:srgbClr val="0B2E33"/>
                          </a:solidFill>
                        </a:rPr>
                        <a:t>Modelo de datos de usuarios, roles y sesiones, y datos de dispositivos de red normalizados a un esquema común, independiente del proveedor.</a:t>
                      </a:r>
                      <a:endParaRPr sz="13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r>
              <a:tr h="960125">
                <a:tc>
                  <a:txBody>
                    <a:bodyPr/>
                    <a:lstStyle/>
                    <a:p>
                      <a:pPr indent="0" lvl="0" marL="0" marR="0" rtl="0" algn="ctr">
                        <a:spcBef>
                          <a:spcPts val="0"/>
                        </a:spcBef>
                        <a:spcAft>
                          <a:spcPts val="0"/>
                        </a:spcAft>
                        <a:buClr>
                          <a:srgbClr val="028090"/>
                        </a:buClr>
                        <a:buSzPts val="2000"/>
                        <a:buFont typeface="Calibri"/>
                        <a:buNone/>
                      </a:pPr>
                      <a:r>
                        <a:rPr b="1" lang="en-US" sz="2000" u="none" cap="none" strike="noStrike">
                          <a:solidFill>
                            <a:srgbClr val="028090"/>
                          </a:solidFill>
                        </a:rPr>
                        <a:t>3</a:t>
                      </a:r>
                      <a:endParaRPr sz="20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42A2E"/>
                        </a:buClr>
                        <a:buSzPts val="1600"/>
                        <a:buFont typeface="Calibri"/>
                        <a:buNone/>
                      </a:pPr>
                      <a:r>
                        <a:rPr b="1" lang="en-US" sz="1600" u="none" cap="none" strike="noStrike">
                          <a:solidFill>
                            <a:srgbClr val="042A2E"/>
                          </a:solidFill>
                        </a:rPr>
                        <a:t>Integración Tecnológica</a:t>
                      </a:r>
                      <a:endParaRPr sz="1200" u="none" cap="none" strike="noStrike"/>
                    </a:p>
                    <a:p>
                      <a:pPr indent="0" lvl="0" marL="0" marR="0" rtl="0" algn="l">
                        <a:spcBef>
                          <a:spcPts val="0"/>
                        </a:spcBef>
                        <a:spcAft>
                          <a:spcPts val="0"/>
                        </a:spcAft>
                        <a:buClr>
                          <a:srgbClr val="4B6C70"/>
                        </a:buClr>
                        <a:buSzPts val="1200"/>
                        <a:buFont typeface="Calibri"/>
                        <a:buNone/>
                      </a:pPr>
                      <a:r>
                        <a:rPr lang="en-US" sz="1200" u="none" cap="none" strike="noStrike">
                          <a:solidFill>
                            <a:srgbClr val="4B6C70"/>
                          </a:solidFill>
                        </a:rPr>
                        <a:t>Conexión de NetBot con UniFi y OPNsense.</a:t>
                      </a:r>
                      <a:endParaRPr sz="12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B2E33"/>
                        </a:buClr>
                        <a:buSzPts val="1300"/>
                        <a:buFont typeface="Calibri"/>
                        <a:buNone/>
                      </a:pPr>
                      <a:r>
                        <a:rPr lang="en-US" sz="1300" u="none" cap="none" strike="noStrike">
                          <a:solidFill>
                            <a:srgbClr val="0B2E33"/>
                          </a:solidFill>
                        </a:rPr>
                        <a:t>API REST consumida por el frontend; proveedor OPNsense integrado y proveedor simulado intercambiable. UniFi y el modelo de lenguaje son los siguientes pasos del plan.</a:t>
                      </a:r>
                      <a:endParaRPr sz="13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r>
              <a:tr h="960125">
                <a:tc>
                  <a:txBody>
                    <a:bodyPr/>
                    <a:lstStyle/>
                    <a:p>
                      <a:pPr indent="0" lvl="0" marL="0" marR="0" rtl="0" algn="ctr">
                        <a:spcBef>
                          <a:spcPts val="0"/>
                        </a:spcBef>
                        <a:spcAft>
                          <a:spcPts val="0"/>
                        </a:spcAft>
                        <a:buClr>
                          <a:srgbClr val="028090"/>
                        </a:buClr>
                        <a:buSzPts val="2000"/>
                        <a:buFont typeface="Calibri"/>
                        <a:buNone/>
                      </a:pPr>
                      <a:r>
                        <a:rPr b="1" lang="en-US" sz="2000" u="none" cap="none" strike="noStrike">
                          <a:solidFill>
                            <a:srgbClr val="028090"/>
                          </a:solidFill>
                        </a:rPr>
                        <a:t>4</a:t>
                      </a:r>
                      <a:endParaRPr sz="20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42A2E"/>
                        </a:buClr>
                        <a:buSzPts val="1600"/>
                        <a:buFont typeface="Calibri"/>
                        <a:buNone/>
                      </a:pPr>
                      <a:r>
                        <a:rPr b="1" lang="en-US" sz="1600" u="none" cap="none" strike="noStrike">
                          <a:solidFill>
                            <a:srgbClr val="042A2E"/>
                          </a:solidFill>
                        </a:rPr>
                        <a:t>Resolución de Problemas</a:t>
                      </a:r>
                      <a:endParaRPr sz="1200" u="none" cap="none" strike="noStrike"/>
                    </a:p>
                    <a:p>
                      <a:pPr indent="0" lvl="0" marL="0" marR="0" rtl="0" algn="l">
                        <a:spcBef>
                          <a:spcPts val="0"/>
                        </a:spcBef>
                        <a:spcAft>
                          <a:spcPts val="0"/>
                        </a:spcAft>
                        <a:buClr>
                          <a:srgbClr val="4B6C70"/>
                        </a:buClr>
                        <a:buSzPts val="1200"/>
                        <a:buFont typeface="Calibri"/>
                        <a:buNone/>
                      </a:pPr>
                      <a:r>
                        <a:rPr lang="en-US" sz="1200" u="none" cap="none" strike="noStrike">
                          <a:solidFill>
                            <a:srgbClr val="4B6C70"/>
                          </a:solidFill>
                        </a:rPr>
                        <a:t>Monitoreo y administración centralizada de la infraestructura.</a:t>
                      </a:r>
                      <a:endParaRPr sz="12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B2E33"/>
                        </a:buClr>
                        <a:buSzPts val="1300"/>
                        <a:buFont typeface="Calibri"/>
                        <a:buNone/>
                      </a:pPr>
                      <a:r>
                        <a:rPr lang="en-US" sz="1300" u="none" cap="none" strike="noStrike">
                          <a:solidFill>
                            <a:srgbClr val="0B2E33"/>
                          </a:solidFill>
                        </a:rPr>
                        <a:t>Monitoreo centralizado con estados ok, degradado y sin datos. Reserva de VLAN, verificación y rollback para cambiar la red sin romperla (en construcción).</a:t>
                      </a:r>
                      <a:endParaRPr sz="1300" u="none" cap="none" strike="noStrike"/>
                    </a:p>
                  </a:txBody>
                  <a:tcPr marT="0" marB="0" marR="137150" marL="137150" anchor="ctr">
                    <a:lnL cap="flat" cmpd="sng" w="12700">
                      <a:solidFill>
                        <a:srgbClr val="D7E8E7"/>
                      </a:solidFill>
                      <a:prstDash val="solid"/>
                      <a:round/>
                      <a:headEnd len="sm" w="sm" type="none"/>
                      <a:tailEnd len="sm" w="sm" type="none"/>
                    </a:lnL>
                    <a:lnR cap="flat" cmpd="sng" w="12700">
                      <a:solidFill>
                        <a:srgbClr val="D7E8E7"/>
                      </a:solidFill>
                      <a:prstDash val="solid"/>
                      <a:round/>
                      <a:headEnd len="sm" w="sm" type="none"/>
                      <a:tailEnd len="sm" w="sm" type="none"/>
                    </a:lnR>
                    <a:lnT cap="flat" cmpd="sng" w="12700">
                      <a:solidFill>
                        <a:srgbClr val="D7E8E7"/>
                      </a:solidFill>
                      <a:prstDash val="solid"/>
                      <a:round/>
                      <a:headEnd len="sm" w="sm" type="none"/>
                      <a:tailEnd len="sm" w="sm" type="none"/>
                    </a:lnT>
                    <a:lnB cap="flat" cmpd="sng" w="12700">
                      <a:solidFill>
                        <a:srgbClr val="D7E8E7"/>
                      </a:solidFill>
                      <a:prstDash val="solid"/>
                      <a:round/>
                      <a:headEnd len="sm" w="sm" type="none"/>
                      <a:tailEnd len="sm" w="sm" type="none"/>
                    </a:lnB>
                    <a:solidFill>
                      <a:srgbClr val="FFFFFF"/>
                    </a:solidFill>
                  </a:tcPr>
                </a:tc>
              </a:tr>
            </a:tbl>
          </a:graphicData>
        </a:graphic>
      </p:graphicFrame>
      <p:sp>
        <p:nvSpPr>
          <p:cNvPr id="126" name="Google Shape;126;h1a3ff83170dc108f_1_91"/>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h1a3ff83170dc108f_1_99"/>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Mi desarrollo profesional</a:t>
            </a:r>
            <a:endParaRPr sz="3600"/>
          </a:p>
        </p:txBody>
      </p:sp>
      <p:sp>
        <p:nvSpPr>
          <p:cNvPr id="133" name="Google Shape;133;h1a3ff83170dc108f_1_99"/>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Lo que NetBot me aporta como profesional: fortalezas, aprendizaje y proyección a 5 años.</a:t>
            </a:r>
            <a:endParaRPr sz="1600"/>
          </a:p>
        </p:txBody>
      </p:sp>
      <p:sp>
        <p:nvSpPr>
          <p:cNvPr id="134" name="Google Shape;134;h1a3ff83170dc108f_1_99"/>
          <p:cNvSpPr/>
          <p:nvPr/>
        </p:nvSpPr>
        <p:spPr>
          <a:xfrm>
            <a:off x="548640" y="1737360"/>
            <a:ext cx="3514344" cy="4526280"/>
          </a:xfrm>
          <a:prstGeom prst="roundRect">
            <a:avLst>
              <a:gd fmla="val 3122"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h1a3ff83170dc108f_1_99"/>
          <p:cNvSpPr/>
          <p:nvPr/>
        </p:nvSpPr>
        <p:spPr>
          <a:xfrm>
            <a:off x="777240" y="192024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h1a3ff83170dc108f_1_99"/>
          <p:cNvSpPr txBox="1"/>
          <p:nvPr/>
        </p:nvSpPr>
        <p:spPr>
          <a:xfrm>
            <a:off x="777240" y="19202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IC</a:t>
            </a:r>
            <a:endParaRPr b="0" i="0" sz="1800" u="none" cap="none" strike="noStrike">
              <a:solidFill>
                <a:schemeClr val="dk1"/>
              </a:solidFill>
              <a:latin typeface="Calibri"/>
              <a:ea typeface="Calibri"/>
              <a:cs typeface="Calibri"/>
              <a:sym typeface="Calibri"/>
            </a:endParaRPr>
          </a:p>
        </p:txBody>
      </p:sp>
      <p:sp>
        <p:nvSpPr>
          <p:cNvPr id="137" name="Google Shape;137;h1a3ff83170dc108f_1_99"/>
          <p:cNvSpPr txBox="1"/>
          <p:nvPr/>
        </p:nvSpPr>
        <p:spPr>
          <a:xfrm>
            <a:off x="1554480" y="1938528"/>
            <a:ext cx="2371344"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US" sz="1800" u="none" cap="none" strike="noStrike">
                <a:solidFill>
                  <a:schemeClr val="dk2"/>
                </a:solidFill>
                <a:latin typeface="Calibri"/>
                <a:ea typeface="Calibri"/>
                <a:cs typeface="Calibri"/>
                <a:sym typeface="Calibri"/>
              </a:rPr>
              <a:t>Itamar Carrasco</a:t>
            </a:r>
            <a:endParaRPr b="0" i="0" sz="1800" u="none" cap="none" strike="noStrike">
              <a:solidFill>
                <a:schemeClr val="dk1"/>
              </a:solidFill>
              <a:latin typeface="Calibri"/>
              <a:ea typeface="Calibri"/>
              <a:cs typeface="Calibri"/>
              <a:sym typeface="Calibri"/>
            </a:endParaRPr>
          </a:p>
        </p:txBody>
      </p:sp>
      <p:sp>
        <p:nvSpPr>
          <p:cNvPr id="138" name="Google Shape;138;h1a3ff83170dc108f_1_99"/>
          <p:cNvSpPr txBox="1"/>
          <p:nvPr/>
        </p:nvSpPr>
        <p:spPr>
          <a:xfrm>
            <a:off x="1554480" y="2286000"/>
            <a:ext cx="2371344"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Épicas 002 · 005</a:t>
            </a:r>
            <a:endParaRPr b="0" i="0" sz="1200" u="none" cap="none" strike="noStrike">
              <a:solidFill>
                <a:schemeClr val="dk1"/>
              </a:solidFill>
              <a:latin typeface="Calibri"/>
              <a:ea typeface="Calibri"/>
              <a:cs typeface="Calibri"/>
              <a:sym typeface="Calibri"/>
            </a:endParaRPr>
          </a:p>
        </p:txBody>
      </p:sp>
      <p:sp>
        <p:nvSpPr>
          <p:cNvPr id="139" name="Google Shape;139;h1a3ff83170dc108f_1_99"/>
          <p:cNvSpPr txBox="1"/>
          <p:nvPr/>
        </p:nvSpPr>
        <p:spPr>
          <a:xfrm>
            <a:off x="777240" y="2743200"/>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Competencias que fortalezco</a:t>
            </a:r>
            <a:endParaRPr b="0" i="0" sz="1300" u="none" cap="none" strike="noStrike">
              <a:solidFill>
                <a:schemeClr val="dk1"/>
              </a:solidFill>
              <a:latin typeface="Calibri"/>
              <a:ea typeface="Calibri"/>
              <a:cs typeface="Calibri"/>
              <a:sym typeface="Calibri"/>
            </a:endParaRPr>
          </a:p>
        </p:txBody>
      </p:sp>
      <p:sp>
        <p:nvSpPr>
          <p:cNvPr id="140" name="Google Shape;140;h1a3ff83170dc108f_1_99"/>
          <p:cNvSpPr/>
          <p:nvPr/>
        </p:nvSpPr>
        <p:spPr>
          <a:xfrm>
            <a:off x="777240" y="3026664"/>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Arquitectura de sistemas y cloud, y gestión de proyectos: trabajar con plan, documentación y ramas.</a:t>
            </a:r>
            <a:endParaRPr b="0" i="0" sz="1200" u="none" cap="none" strike="noStrike">
              <a:solidFill>
                <a:schemeClr val="dk1"/>
              </a:solidFill>
              <a:latin typeface="Calibri"/>
              <a:ea typeface="Calibri"/>
              <a:cs typeface="Calibri"/>
              <a:sym typeface="Calibri"/>
            </a:endParaRPr>
          </a:p>
        </p:txBody>
      </p:sp>
      <p:sp>
        <p:nvSpPr>
          <p:cNvPr id="141" name="Google Shape;141;h1a3ff83170dc108f_1_99"/>
          <p:cNvSpPr txBox="1"/>
          <p:nvPr/>
        </p:nvSpPr>
        <p:spPr>
          <a:xfrm>
            <a:off x="777240" y="3913632"/>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Lo que estoy aprendiendo</a:t>
            </a:r>
            <a:endParaRPr b="0" i="0" sz="1300" u="none" cap="none" strike="noStrike">
              <a:solidFill>
                <a:schemeClr val="dk1"/>
              </a:solidFill>
              <a:latin typeface="Calibri"/>
              <a:ea typeface="Calibri"/>
              <a:cs typeface="Calibri"/>
              <a:sym typeface="Calibri"/>
            </a:endParaRPr>
          </a:p>
        </p:txBody>
      </p:sp>
      <p:sp>
        <p:nvSpPr>
          <p:cNvPr id="142" name="Google Shape;142;h1a3ff83170dc108f_1_99"/>
          <p:cNvSpPr/>
          <p:nvPr/>
        </p:nvSpPr>
        <p:spPr>
          <a:xfrm>
            <a:off x="777240" y="4197096"/>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Backend con FastAPI e integración con APIs de red (OPNsense y UniFi) para el monitoreo.</a:t>
            </a:r>
            <a:endParaRPr b="0" i="0" sz="1200" u="none" cap="none" strike="noStrike">
              <a:solidFill>
                <a:schemeClr val="dk1"/>
              </a:solidFill>
              <a:latin typeface="Calibri"/>
              <a:ea typeface="Calibri"/>
              <a:cs typeface="Calibri"/>
              <a:sym typeface="Calibri"/>
            </a:endParaRPr>
          </a:p>
        </p:txBody>
      </p:sp>
      <p:sp>
        <p:nvSpPr>
          <p:cNvPr id="143" name="Google Shape;143;h1a3ff83170dc108f_1_99"/>
          <p:cNvSpPr txBox="1"/>
          <p:nvPr/>
        </p:nvSpPr>
        <p:spPr>
          <a:xfrm>
            <a:off x="777240" y="5084064"/>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Cómo lo proyecto a mi carrera</a:t>
            </a:r>
            <a:endParaRPr b="0" i="0" sz="1300" u="none" cap="none" strike="noStrike">
              <a:solidFill>
                <a:schemeClr val="dk1"/>
              </a:solidFill>
              <a:latin typeface="Calibri"/>
              <a:ea typeface="Calibri"/>
              <a:cs typeface="Calibri"/>
              <a:sym typeface="Calibri"/>
            </a:endParaRPr>
          </a:p>
        </p:txBody>
      </p:sp>
      <p:sp>
        <p:nvSpPr>
          <p:cNvPr id="144" name="Google Shape;144;h1a3ff83170dc108f_1_99"/>
          <p:cNvSpPr/>
          <p:nvPr/>
        </p:nvSpPr>
        <p:spPr>
          <a:xfrm>
            <a:off x="777240" y="5367528"/>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Ser desarrollador backend en soluciones complejas, idealmente en proyectos internacionales, usando mi inglés.</a:t>
            </a:r>
            <a:endParaRPr b="0" i="0" sz="1200" u="none" cap="none" strike="noStrike">
              <a:solidFill>
                <a:schemeClr val="dk1"/>
              </a:solidFill>
              <a:latin typeface="Calibri"/>
              <a:ea typeface="Calibri"/>
              <a:cs typeface="Calibri"/>
              <a:sym typeface="Calibri"/>
            </a:endParaRPr>
          </a:p>
        </p:txBody>
      </p:sp>
      <p:sp>
        <p:nvSpPr>
          <p:cNvPr id="145" name="Google Shape;145;h1a3ff83170dc108f_1_99"/>
          <p:cNvSpPr/>
          <p:nvPr/>
        </p:nvSpPr>
        <p:spPr>
          <a:xfrm>
            <a:off x="4337304" y="1737360"/>
            <a:ext cx="3514344" cy="4526280"/>
          </a:xfrm>
          <a:prstGeom prst="roundRect">
            <a:avLst>
              <a:gd fmla="val 3122"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h1a3ff83170dc108f_1_99"/>
          <p:cNvSpPr/>
          <p:nvPr/>
        </p:nvSpPr>
        <p:spPr>
          <a:xfrm>
            <a:off x="4565904" y="192024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h1a3ff83170dc108f_1_99"/>
          <p:cNvSpPr txBox="1"/>
          <p:nvPr/>
        </p:nvSpPr>
        <p:spPr>
          <a:xfrm>
            <a:off x="4565904" y="19202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BH</a:t>
            </a:r>
            <a:endParaRPr b="0" i="0" sz="1800" u="none" cap="none" strike="noStrike">
              <a:solidFill>
                <a:schemeClr val="dk1"/>
              </a:solidFill>
              <a:latin typeface="Calibri"/>
              <a:ea typeface="Calibri"/>
              <a:cs typeface="Calibri"/>
              <a:sym typeface="Calibri"/>
            </a:endParaRPr>
          </a:p>
        </p:txBody>
      </p:sp>
      <p:sp>
        <p:nvSpPr>
          <p:cNvPr id="148" name="Google Shape;148;h1a3ff83170dc108f_1_99"/>
          <p:cNvSpPr txBox="1"/>
          <p:nvPr/>
        </p:nvSpPr>
        <p:spPr>
          <a:xfrm>
            <a:off x="5343144" y="1938528"/>
            <a:ext cx="2371344"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US" sz="1800" u="none" cap="none" strike="noStrike">
                <a:solidFill>
                  <a:schemeClr val="dk2"/>
                </a:solidFill>
                <a:latin typeface="Calibri"/>
                <a:ea typeface="Calibri"/>
                <a:cs typeface="Calibri"/>
                <a:sym typeface="Calibri"/>
              </a:rPr>
              <a:t>Bastián Herrera</a:t>
            </a:r>
            <a:endParaRPr b="0" i="0" sz="1800" u="none" cap="none" strike="noStrike">
              <a:solidFill>
                <a:schemeClr val="dk1"/>
              </a:solidFill>
              <a:latin typeface="Calibri"/>
              <a:ea typeface="Calibri"/>
              <a:cs typeface="Calibri"/>
              <a:sym typeface="Calibri"/>
            </a:endParaRPr>
          </a:p>
        </p:txBody>
      </p:sp>
      <p:sp>
        <p:nvSpPr>
          <p:cNvPr id="149" name="Google Shape;149;h1a3ff83170dc108f_1_99"/>
          <p:cNvSpPr txBox="1"/>
          <p:nvPr/>
        </p:nvSpPr>
        <p:spPr>
          <a:xfrm>
            <a:off x="5343144" y="2286000"/>
            <a:ext cx="2371344"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Épicas 003 · 006</a:t>
            </a:r>
            <a:endParaRPr b="0" i="0" sz="1200" u="none" cap="none" strike="noStrike">
              <a:solidFill>
                <a:schemeClr val="dk1"/>
              </a:solidFill>
              <a:latin typeface="Calibri"/>
              <a:ea typeface="Calibri"/>
              <a:cs typeface="Calibri"/>
              <a:sym typeface="Calibri"/>
            </a:endParaRPr>
          </a:p>
        </p:txBody>
      </p:sp>
      <p:sp>
        <p:nvSpPr>
          <p:cNvPr id="150" name="Google Shape;150;h1a3ff83170dc108f_1_99"/>
          <p:cNvSpPr txBox="1"/>
          <p:nvPr/>
        </p:nvSpPr>
        <p:spPr>
          <a:xfrm>
            <a:off x="4565904" y="2743200"/>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Competencias que fortalezco</a:t>
            </a:r>
            <a:endParaRPr b="0" i="0" sz="1300" u="none" cap="none" strike="noStrike">
              <a:solidFill>
                <a:schemeClr val="dk1"/>
              </a:solidFill>
              <a:latin typeface="Calibri"/>
              <a:ea typeface="Calibri"/>
              <a:cs typeface="Calibri"/>
              <a:sym typeface="Calibri"/>
            </a:endParaRPr>
          </a:p>
        </p:txBody>
      </p:sp>
      <p:sp>
        <p:nvSpPr>
          <p:cNvPr id="151" name="Google Shape;151;h1a3ff83170dc108f_1_99"/>
          <p:cNvSpPr/>
          <p:nvPr/>
        </p:nvSpPr>
        <p:spPr>
          <a:xfrm>
            <a:off x="4565904" y="3026664"/>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Gestión de proyectos informáticos: coordinar equipos y decidir con restricciones de tiempo y recursos.</a:t>
            </a:r>
            <a:endParaRPr b="0" i="0" sz="1200" u="none" cap="none" strike="noStrike">
              <a:solidFill>
                <a:schemeClr val="dk1"/>
              </a:solidFill>
              <a:latin typeface="Calibri"/>
              <a:ea typeface="Calibri"/>
              <a:cs typeface="Calibri"/>
              <a:sym typeface="Calibri"/>
            </a:endParaRPr>
          </a:p>
        </p:txBody>
      </p:sp>
      <p:sp>
        <p:nvSpPr>
          <p:cNvPr id="152" name="Google Shape;152;h1a3ff83170dc108f_1_99"/>
          <p:cNvSpPr txBox="1"/>
          <p:nvPr/>
        </p:nvSpPr>
        <p:spPr>
          <a:xfrm>
            <a:off x="4565904" y="3913632"/>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Lo que estoy aprendiendo</a:t>
            </a:r>
            <a:endParaRPr b="0" i="0" sz="1300" u="none" cap="none" strike="noStrike">
              <a:solidFill>
                <a:schemeClr val="dk1"/>
              </a:solidFill>
              <a:latin typeface="Calibri"/>
              <a:ea typeface="Calibri"/>
              <a:cs typeface="Calibri"/>
              <a:sym typeface="Calibri"/>
            </a:endParaRPr>
          </a:p>
        </p:txBody>
      </p:sp>
      <p:sp>
        <p:nvSpPr>
          <p:cNvPr id="153" name="Google Shape;153;h1a3ff83170dc108f_1_99"/>
          <p:cNvSpPr/>
          <p:nvPr/>
        </p:nvSpPr>
        <p:spPr>
          <a:xfrm>
            <a:off x="4565904" y="4197096"/>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Diseño de software, integración tecnológica y resolución de problemas, con metodologías ágiles.</a:t>
            </a:r>
            <a:endParaRPr b="0" i="0" sz="1200" u="none" cap="none" strike="noStrike">
              <a:solidFill>
                <a:schemeClr val="dk1"/>
              </a:solidFill>
              <a:latin typeface="Calibri"/>
              <a:ea typeface="Calibri"/>
              <a:cs typeface="Calibri"/>
              <a:sym typeface="Calibri"/>
            </a:endParaRPr>
          </a:p>
        </p:txBody>
      </p:sp>
      <p:sp>
        <p:nvSpPr>
          <p:cNvPr id="154" name="Google Shape;154;h1a3ff83170dc108f_1_99"/>
          <p:cNvSpPr txBox="1"/>
          <p:nvPr/>
        </p:nvSpPr>
        <p:spPr>
          <a:xfrm>
            <a:off x="4565904" y="5084064"/>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Cómo lo proyecto a mi carrera</a:t>
            </a:r>
            <a:endParaRPr b="0" i="0" sz="1300" u="none" cap="none" strike="noStrike">
              <a:solidFill>
                <a:schemeClr val="dk1"/>
              </a:solidFill>
              <a:latin typeface="Calibri"/>
              <a:ea typeface="Calibri"/>
              <a:cs typeface="Calibri"/>
              <a:sym typeface="Calibri"/>
            </a:endParaRPr>
          </a:p>
        </p:txBody>
      </p:sp>
      <p:sp>
        <p:nvSpPr>
          <p:cNvPr id="155" name="Google Shape;155;h1a3ff83170dc108f_1_99"/>
          <p:cNvSpPr/>
          <p:nvPr/>
        </p:nvSpPr>
        <p:spPr>
          <a:xfrm>
            <a:off x="4565904" y="5367528"/>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Trabajar en una empresa consolidada, dirigiendo un proyecto o en desarrollo, con foco en ciberseguridad.</a:t>
            </a:r>
            <a:endParaRPr b="0" i="0" sz="1200" u="none" cap="none" strike="noStrike">
              <a:solidFill>
                <a:schemeClr val="dk1"/>
              </a:solidFill>
              <a:latin typeface="Calibri"/>
              <a:ea typeface="Calibri"/>
              <a:cs typeface="Calibri"/>
              <a:sym typeface="Calibri"/>
            </a:endParaRPr>
          </a:p>
        </p:txBody>
      </p:sp>
      <p:sp>
        <p:nvSpPr>
          <p:cNvPr id="156" name="Google Shape;156;h1a3ff83170dc108f_1_99"/>
          <p:cNvSpPr/>
          <p:nvPr/>
        </p:nvSpPr>
        <p:spPr>
          <a:xfrm>
            <a:off x="8125968" y="1737360"/>
            <a:ext cx="3514344" cy="4526280"/>
          </a:xfrm>
          <a:prstGeom prst="roundRect">
            <a:avLst>
              <a:gd fmla="val 3122"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h1a3ff83170dc108f_1_99"/>
          <p:cNvSpPr/>
          <p:nvPr/>
        </p:nvSpPr>
        <p:spPr>
          <a:xfrm>
            <a:off x="8354568" y="192024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h1a3ff83170dc108f_1_99"/>
          <p:cNvSpPr txBox="1"/>
          <p:nvPr/>
        </p:nvSpPr>
        <p:spPr>
          <a:xfrm>
            <a:off x="8354568" y="19202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FD</a:t>
            </a:r>
            <a:endParaRPr b="0" i="0" sz="1800" u="none" cap="none" strike="noStrike">
              <a:solidFill>
                <a:schemeClr val="dk1"/>
              </a:solidFill>
              <a:latin typeface="Calibri"/>
              <a:ea typeface="Calibri"/>
              <a:cs typeface="Calibri"/>
              <a:sym typeface="Calibri"/>
            </a:endParaRPr>
          </a:p>
        </p:txBody>
      </p:sp>
      <p:sp>
        <p:nvSpPr>
          <p:cNvPr id="159" name="Google Shape;159;h1a3ff83170dc108f_1_99"/>
          <p:cNvSpPr txBox="1"/>
          <p:nvPr/>
        </p:nvSpPr>
        <p:spPr>
          <a:xfrm>
            <a:off x="9131808" y="1938528"/>
            <a:ext cx="2371344"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US" sz="1800" u="none" cap="none" strike="noStrike">
                <a:solidFill>
                  <a:schemeClr val="dk2"/>
                </a:solidFill>
                <a:latin typeface="Calibri"/>
                <a:ea typeface="Calibri"/>
                <a:cs typeface="Calibri"/>
                <a:sym typeface="Calibri"/>
              </a:rPr>
              <a:t>Francisco Díaz</a:t>
            </a:r>
            <a:endParaRPr b="0" i="0" sz="1800" u="none" cap="none" strike="noStrike">
              <a:solidFill>
                <a:schemeClr val="dk1"/>
              </a:solidFill>
              <a:latin typeface="Calibri"/>
              <a:ea typeface="Calibri"/>
              <a:cs typeface="Calibri"/>
              <a:sym typeface="Calibri"/>
            </a:endParaRPr>
          </a:p>
        </p:txBody>
      </p:sp>
      <p:sp>
        <p:nvSpPr>
          <p:cNvPr id="160" name="Google Shape;160;h1a3ff83170dc108f_1_99"/>
          <p:cNvSpPr txBox="1"/>
          <p:nvPr/>
        </p:nvSpPr>
        <p:spPr>
          <a:xfrm>
            <a:off x="9131808" y="2286000"/>
            <a:ext cx="2371344"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Épicas 001 · 004</a:t>
            </a:r>
            <a:endParaRPr b="0" i="0" sz="1200" u="none" cap="none" strike="noStrike">
              <a:solidFill>
                <a:schemeClr val="dk1"/>
              </a:solidFill>
              <a:latin typeface="Calibri"/>
              <a:ea typeface="Calibri"/>
              <a:cs typeface="Calibri"/>
              <a:sym typeface="Calibri"/>
            </a:endParaRPr>
          </a:p>
        </p:txBody>
      </p:sp>
      <p:sp>
        <p:nvSpPr>
          <p:cNvPr id="161" name="Google Shape;161;h1a3ff83170dc108f_1_99"/>
          <p:cNvSpPr txBox="1"/>
          <p:nvPr/>
        </p:nvSpPr>
        <p:spPr>
          <a:xfrm>
            <a:off x="8354568" y="2743200"/>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Competencias que fortalezco</a:t>
            </a:r>
            <a:endParaRPr b="0" i="0" sz="1300" u="none" cap="none" strike="noStrike">
              <a:solidFill>
                <a:schemeClr val="dk1"/>
              </a:solidFill>
              <a:latin typeface="Calibri"/>
              <a:ea typeface="Calibri"/>
              <a:cs typeface="Calibri"/>
              <a:sym typeface="Calibri"/>
            </a:endParaRPr>
          </a:p>
        </p:txBody>
      </p:sp>
      <p:sp>
        <p:nvSpPr>
          <p:cNvPr id="162" name="Google Shape;162;h1a3ff83170dc108f_1_99"/>
          <p:cNvSpPr/>
          <p:nvPr/>
        </p:nvSpPr>
        <p:spPr>
          <a:xfrm>
            <a:off x="8354568" y="3026664"/>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Documentación técnica formal y gestión de proyectos, coordinando al equipo con Scrum y flujo de ramas.</a:t>
            </a:r>
            <a:endParaRPr b="0" i="0" sz="1200" u="none" cap="none" strike="noStrike">
              <a:solidFill>
                <a:schemeClr val="dk1"/>
              </a:solidFill>
              <a:latin typeface="Calibri"/>
              <a:ea typeface="Calibri"/>
              <a:cs typeface="Calibri"/>
              <a:sym typeface="Calibri"/>
            </a:endParaRPr>
          </a:p>
        </p:txBody>
      </p:sp>
      <p:sp>
        <p:nvSpPr>
          <p:cNvPr id="163" name="Google Shape;163;h1a3ff83170dc108f_1_99"/>
          <p:cNvSpPr txBox="1"/>
          <p:nvPr/>
        </p:nvSpPr>
        <p:spPr>
          <a:xfrm>
            <a:off x="8354568" y="3913632"/>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Lo que estoy aprendiendo</a:t>
            </a:r>
            <a:endParaRPr b="0" i="0" sz="1300" u="none" cap="none" strike="noStrike">
              <a:solidFill>
                <a:schemeClr val="dk1"/>
              </a:solidFill>
              <a:latin typeface="Calibri"/>
              <a:ea typeface="Calibri"/>
              <a:cs typeface="Calibri"/>
              <a:sym typeface="Calibri"/>
            </a:endParaRPr>
          </a:p>
        </p:txBody>
      </p:sp>
      <p:sp>
        <p:nvSpPr>
          <p:cNvPr id="164" name="Google Shape;164;h1a3ff83170dc108f_1_99"/>
          <p:cNvSpPr/>
          <p:nvPr/>
        </p:nvSpPr>
        <p:spPr>
          <a:xfrm>
            <a:off x="8354568" y="4197096"/>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Automatización de infraestructura de red e IA aplicada a problemas operativos reales, con acceso por roles.</a:t>
            </a:r>
            <a:endParaRPr b="0" i="0" sz="1200" u="none" cap="none" strike="noStrike">
              <a:solidFill>
                <a:schemeClr val="dk1"/>
              </a:solidFill>
              <a:latin typeface="Calibri"/>
              <a:ea typeface="Calibri"/>
              <a:cs typeface="Calibri"/>
              <a:sym typeface="Calibri"/>
            </a:endParaRPr>
          </a:p>
        </p:txBody>
      </p:sp>
      <p:sp>
        <p:nvSpPr>
          <p:cNvPr id="165" name="Google Shape;165;h1a3ff83170dc108f_1_99"/>
          <p:cNvSpPr txBox="1"/>
          <p:nvPr/>
        </p:nvSpPr>
        <p:spPr>
          <a:xfrm>
            <a:off x="8354568" y="5084064"/>
            <a:ext cx="30571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Cómo lo proyecto a mi carrera</a:t>
            </a:r>
            <a:endParaRPr b="0" i="0" sz="1300" u="none" cap="none" strike="noStrike">
              <a:solidFill>
                <a:schemeClr val="dk1"/>
              </a:solidFill>
              <a:latin typeface="Calibri"/>
              <a:ea typeface="Calibri"/>
              <a:cs typeface="Calibri"/>
              <a:sym typeface="Calibri"/>
            </a:endParaRPr>
          </a:p>
        </p:txBody>
      </p:sp>
      <p:sp>
        <p:nvSpPr>
          <p:cNvPr id="166" name="Google Shape;166;h1a3ff83170dc108f_1_99"/>
          <p:cNvSpPr/>
          <p:nvPr/>
        </p:nvSpPr>
        <p:spPr>
          <a:xfrm>
            <a:off x="8354568" y="5367528"/>
            <a:ext cx="3057144" cy="804672"/>
          </a:xfrm>
          <a:prstGeom prst="roundRect">
            <a:avLst>
              <a:gd fmla="val 9091" name="adj"/>
            </a:avLst>
          </a:prstGeom>
          <a:solidFill>
            <a:schemeClr val="lt2"/>
          </a:solidFill>
          <a:ln>
            <a:noFill/>
          </a:ln>
        </p:spPr>
        <p:txBody>
          <a:bodyPr anchorCtr="0" anchor="t" bIns="63500" lIns="63500" spcFirstLastPara="1" rIns="101600" wrap="square" tIns="10160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Diseñar soluciones de automatización e IA para infraestructura y participar en productos B2B viables.</a:t>
            </a:r>
            <a:endParaRPr b="0" i="0" sz="1200" u="none" cap="none" strike="noStrike">
              <a:solidFill>
                <a:schemeClr val="dk1"/>
              </a:solidFill>
              <a:latin typeface="Calibri"/>
              <a:ea typeface="Calibri"/>
              <a:cs typeface="Calibri"/>
              <a:sym typeface="Calibri"/>
            </a:endParaRPr>
          </a:p>
        </p:txBody>
      </p:sp>
      <p:sp>
        <p:nvSpPr>
          <p:cNvPr id="167" name="Google Shape;167;h1a3ff83170dc108f_1_99"/>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h1a3ff83170dc108f_1_139"/>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Plan de trabajo: original vs. real</a:t>
            </a:r>
            <a:endParaRPr sz="3600"/>
          </a:p>
        </p:txBody>
      </p:sp>
      <p:sp>
        <p:nvSpPr>
          <p:cNvPr id="174" name="Google Shape;174;h1a3ff83170dc108f_1_139"/>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Atraso de 1 a 4 semanas según la épica. Barra fina: plan original; barra gruesa: real o reprogramado.</a:t>
            </a:r>
            <a:endParaRPr sz="1600"/>
          </a:p>
        </p:txBody>
      </p:sp>
      <p:sp>
        <p:nvSpPr>
          <p:cNvPr id="175" name="Google Shape;175;h1a3ff83170dc108f_1_139"/>
          <p:cNvSpPr/>
          <p:nvPr/>
        </p:nvSpPr>
        <p:spPr>
          <a:xfrm>
            <a:off x="4174236" y="1572768"/>
            <a:ext cx="704088" cy="246888"/>
          </a:xfrm>
          <a:prstGeom prst="rect">
            <a:avLst/>
          </a:prstGeom>
          <a:solidFill>
            <a:schemeClr val="accent1">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h1a3ff83170dc108f_1_139"/>
          <p:cNvSpPr txBox="1"/>
          <p:nvPr/>
        </p:nvSpPr>
        <p:spPr>
          <a:xfrm>
            <a:off x="416052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S1</a:t>
            </a:r>
            <a:endParaRPr b="0" i="0" sz="1100" u="none" cap="none" strike="noStrike">
              <a:solidFill>
                <a:schemeClr val="dk1"/>
              </a:solidFill>
              <a:latin typeface="Calibri"/>
              <a:ea typeface="Calibri"/>
              <a:cs typeface="Calibri"/>
              <a:sym typeface="Calibri"/>
            </a:endParaRPr>
          </a:p>
        </p:txBody>
      </p:sp>
      <p:sp>
        <p:nvSpPr>
          <p:cNvPr id="177" name="Google Shape;177;h1a3ff83170dc108f_1_139"/>
          <p:cNvSpPr/>
          <p:nvPr/>
        </p:nvSpPr>
        <p:spPr>
          <a:xfrm>
            <a:off x="4905756" y="1572768"/>
            <a:ext cx="704088" cy="246888"/>
          </a:xfrm>
          <a:prstGeom prst="rect">
            <a:avLst/>
          </a:pr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h1a3ff83170dc108f_1_139"/>
          <p:cNvSpPr txBox="1"/>
          <p:nvPr/>
        </p:nvSpPr>
        <p:spPr>
          <a:xfrm>
            <a:off x="489204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S2</a:t>
            </a:r>
            <a:endParaRPr b="0" i="0" sz="1100" u="none" cap="none" strike="noStrike">
              <a:solidFill>
                <a:schemeClr val="dk1"/>
              </a:solidFill>
              <a:latin typeface="Calibri"/>
              <a:ea typeface="Calibri"/>
              <a:cs typeface="Calibri"/>
              <a:sym typeface="Calibri"/>
            </a:endParaRPr>
          </a:p>
        </p:txBody>
      </p:sp>
      <p:sp>
        <p:nvSpPr>
          <p:cNvPr id="179" name="Google Shape;179;h1a3ff83170dc108f_1_139"/>
          <p:cNvSpPr/>
          <p:nvPr/>
        </p:nvSpPr>
        <p:spPr>
          <a:xfrm>
            <a:off x="5637276" y="1572768"/>
            <a:ext cx="704088" cy="246888"/>
          </a:xfrm>
          <a:prstGeom prst="rect">
            <a:avLst/>
          </a:prstGeom>
          <a:solidFill>
            <a:schemeClr val="accent1">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h1a3ff83170dc108f_1_139"/>
          <p:cNvSpPr txBox="1"/>
          <p:nvPr/>
        </p:nvSpPr>
        <p:spPr>
          <a:xfrm>
            <a:off x="562356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S3</a:t>
            </a:r>
            <a:endParaRPr b="0" i="0" sz="1100" u="none" cap="none" strike="noStrike">
              <a:solidFill>
                <a:schemeClr val="dk1"/>
              </a:solidFill>
              <a:latin typeface="Calibri"/>
              <a:ea typeface="Calibri"/>
              <a:cs typeface="Calibri"/>
              <a:sym typeface="Calibri"/>
            </a:endParaRPr>
          </a:p>
        </p:txBody>
      </p:sp>
      <p:sp>
        <p:nvSpPr>
          <p:cNvPr id="181" name="Google Shape;181;h1a3ff83170dc108f_1_139"/>
          <p:cNvSpPr/>
          <p:nvPr/>
        </p:nvSpPr>
        <p:spPr>
          <a:xfrm>
            <a:off x="6368796" y="1572768"/>
            <a:ext cx="704088" cy="246888"/>
          </a:xfrm>
          <a:prstGeom prst="rect">
            <a:avLst/>
          </a:pr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h1a3ff83170dc108f_1_139"/>
          <p:cNvSpPr txBox="1"/>
          <p:nvPr/>
        </p:nvSpPr>
        <p:spPr>
          <a:xfrm>
            <a:off x="635508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S4</a:t>
            </a:r>
            <a:endParaRPr b="0" i="0" sz="1100" u="none" cap="none" strike="noStrike">
              <a:solidFill>
                <a:schemeClr val="dk1"/>
              </a:solidFill>
              <a:latin typeface="Calibri"/>
              <a:ea typeface="Calibri"/>
              <a:cs typeface="Calibri"/>
              <a:sym typeface="Calibri"/>
            </a:endParaRPr>
          </a:p>
        </p:txBody>
      </p:sp>
      <p:sp>
        <p:nvSpPr>
          <p:cNvPr id="183" name="Google Shape;183;h1a3ff83170dc108f_1_139"/>
          <p:cNvSpPr/>
          <p:nvPr/>
        </p:nvSpPr>
        <p:spPr>
          <a:xfrm>
            <a:off x="7100316" y="1572768"/>
            <a:ext cx="704088" cy="246888"/>
          </a:xfrm>
          <a:prstGeom prst="rect">
            <a:avLst/>
          </a:prstGeom>
          <a:solidFill>
            <a:schemeClr val="accent1">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h1a3ff83170dc108f_1_139"/>
          <p:cNvSpPr txBox="1"/>
          <p:nvPr/>
        </p:nvSpPr>
        <p:spPr>
          <a:xfrm>
            <a:off x="708660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S5</a:t>
            </a:r>
            <a:endParaRPr b="0" i="0" sz="1100" u="none" cap="none" strike="noStrike">
              <a:solidFill>
                <a:schemeClr val="dk1"/>
              </a:solidFill>
              <a:latin typeface="Calibri"/>
              <a:ea typeface="Calibri"/>
              <a:cs typeface="Calibri"/>
              <a:sym typeface="Calibri"/>
            </a:endParaRPr>
          </a:p>
        </p:txBody>
      </p:sp>
      <p:sp>
        <p:nvSpPr>
          <p:cNvPr id="185" name="Google Shape;185;h1a3ff83170dc108f_1_139"/>
          <p:cNvSpPr/>
          <p:nvPr/>
        </p:nvSpPr>
        <p:spPr>
          <a:xfrm>
            <a:off x="7831836" y="1572768"/>
            <a:ext cx="704088" cy="246888"/>
          </a:xfrm>
          <a:prstGeom prst="rect">
            <a:avLst/>
          </a:pr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h1a3ff83170dc108f_1_139"/>
          <p:cNvSpPr txBox="1"/>
          <p:nvPr/>
        </p:nvSpPr>
        <p:spPr>
          <a:xfrm>
            <a:off x="781812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S6</a:t>
            </a:r>
            <a:endParaRPr b="0" i="0" sz="1100" u="none" cap="none" strike="noStrike">
              <a:solidFill>
                <a:schemeClr val="dk1"/>
              </a:solidFill>
              <a:latin typeface="Calibri"/>
              <a:ea typeface="Calibri"/>
              <a:cs typeface="Calibri"/>
              <a:sym typeface="Calibri"/>
            </a:endParaRPr>
          </a:p>
        </p:txBody>
      </p:sp>
      <p:sp>
        <p:nvSpPr>
          <p:cNvPr id="187" name="Google Shape;187;h1a3ff83170dc108f_1_139"/>
          <p:cNvSpPr/>
          <p:nvPr/>
        </p:nvSpPr>
        <p:spPr>
          <a:xfrm>
            <a:off x="8563356" y="1572768"/>
            <a:ext cx="704088" cy="246888"/>
          </a:xfrm>
          <a:prstGeom prst="rect">
            <a:avLst/>
          </a:prstGeom>
          <a:solidFill>
            <a:schemeClr val="accent1">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h1a3ff83170dc108f_1_139"/>
          <p:cNvSpPr txBox="1"/>
          <p:nvPr/>
        </p:nvSpPr>
        <p:spPr>
          <a:xfrm>
            <a:off x="854964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S7</a:t>
            </a:r>
            <a:endParaRPr b="0" i="0" sz="1100" u="none" cap="none" strike="noStrike">
              <a:solidFill>
                <a:schemeClr val="dk1"/>
              </a:solidFill>
              <a:latin typeface="Calibri"/>
              <a:ea typeface="Calibri"/>
              <a:cs typeface="Calibri"/>
              <a:sym typeface="Calibri"/>
            </a:endParaRPr>
          </a:p>
        </p:txBody>
      </p:sp>
      <p:sp>
        <p:nvSpPr>
          <p:cNvPr id="189" name="Google Shape;189;h1a3ff83170dc108f_1_139"/>
          <p:cNvSpPr/>
          <p:nvPr/>
        </p:nvSpPr>
        <p:spPr>
          <a:xfrm>
            <a:off x="9294876" y="1572768"/>
            <a:ext cx="704088" cy="246888"/>
          </a:xfrm>
          <a:prstGeom prst="rect">
            <a:avLst/>
          </a:pr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h1a3ff83170dc108f_1_139"/>
          <p:cNvSpPr txBox="1"/>
          <p:nvPr/>
        </p:nvSpPr>
        <p:spPr>
          <a:xfrm>
            <a:off x="928116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S8</a:t>
            </a:r>
            <a:endParaRPr b="0" i="0" sz="1100" u="none" cap="none" strike="noStrike">
              <a:solidFill>
                <a:schemeClr val="dk1"/>
              </a:solidFill>
              <a:latin typeface="Calibri"/>
              <a:ea typeface="Calibri"/>
              <a:cs typeface="Calibri"/>
              <a:sym typeface="Calibri"/>
            </a:endParaRPr>
          </a:p>
        </p:txBody>
      </p:sp>
      <p:sp>
        <p:nvSpPr>
          <p:cNvPr id="191" name="Google Shape;191;h1a3ff83170dc108f_1_139"/>
          <p:cNvSpPr/>
          <p:nvPr/>
        </p:nvSpPr>
        <p:spPr>
          <a:xfrm>
            <a:off x="10026396" y="1572768"/>
            <a:ext cx="704088" cy="246888"/>
          </a:xfrm>
          <a:prstGeom prst="rect">
            <a:avLst/>
          </a:prstGeom>
          <a:solidFill>
            <a:schemeClr val="accent1">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h1a3ff83170dc108f_1_139"/>
          <p:cNvSpPr txBox="1"/>
          <p:nvPr/>
        </p:nvSpPr>
        <p:spPr>
          <a:xfrm>
            <a:off x="10012680" y="1572768"/>
            <a:ext cx="7315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S9</a:t>
            </a:r>
            <a:endParaRPr b="0" i="0" sz="1100" u="none" cap="none" strike="noStrike">
              <a:solidFill>
                <a:schemeClr val="dk1"/>
              </a:solidFill>
              <a:latin typeface="Calibri"/>
              <a:ea typeface="Calibri"/>
              <a:cs typeface="Calibri"/>
              <a:sym typeface="Calibri"/>
            </a:endParaRPr>
          </a:p>
        </p:txBody>
      </p:sp>
      <p:sp>
        <p:nvSpPr>
          <p:cNvPr id="193" name="Google Shape;193;h1a3ff83170dc108f_1_139"/>
          <p:cNvSpPr txBox="1"/>
          <p:nvPr/>
        </p:nvSpPr>
        <p:spPr>
          <a:xfrm>
            <a:off x="416052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94" name="Google Shape;194;h1a3ff83170dc108f_1_139"/>
          <p:cNvSpPr txBox="1"/>
          <p:nvPr/>
        </p:nvSpPr>
        <p:spPr>
          <a:xfrm>
            <a:off x="452628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95" name="Google Shape;195;h1a3ff83170dc108f_1_139"/>
          <p:cNvSpPr txBox="1"/>
          <p:nvPr/>
        </p:nvSpPr>
        <p:spPr>
          <a:xfrm>
            <a:off x="489204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96" name="Google Shape;196;h1a3ff83170dc108f_1_139"/>
          <p:cNvSpPr txBox="1"/>
          <p:nvPr/>
        </p:nvSpPr>
        <p:spPr>
          <a:xfrm>
            <a:off x="525780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97" name="Google Shape;197;h1a3ff83170dc108f_1_139"/>
          <p:cNvSpPr txBox="1"/>
          <p:nvPr/>
        </p:nvSpPr>
        <p:spPr>
          <a:xfrm>
            <a:off x="562356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198" name="Google Shape;198;h1a3ff83170dc108f_1_139"/>
          <p:cNvSpPr txBox="1"/>
          <p:nvPr/>
        </p:nvSpPr>
        <p:spPr>
          <a:xfrm>
            <a:off x="598932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199" name="Google Shape;199;h1a3ff83170dc108f_1_139"/>
          <p:cNvSpPr txBox="1"/>
          <p:nvPr/>
        </p:nvSpPr>
        <p:spPr>
          <a:xfrm>
            <a:off x="635508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200" name="Google Shape;200;h1a3ff83170dc108f_1_139"/>
          <p:cNvSpPr txBox="1"/>
          <p:nvPr/>
        </p:nvSpPr>
        <p:spPr>
          <a:xfrm>
            <a:off x="672084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201" name="Google Shape;201;h1a3ff83170dc108f_1_139"/>
          <p:cNvSpPr txBox="1"/>
          <p:nvPr/>
        </p:nvSpPr>
        <p:spPr>
          <a:xfrm>
            <a:off x="708660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202" name="Google Shape;202;h1a3ff83170dc108f_1_139"/>
          <p:cNvSpPr txBox="1"/>
          <p:nvPr/>
        </p:nvSpPr>
        <p:spPr>
          <a:xfrm>
            <a:off x="745236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203" name="Google Shape;203;h1a3ff83170dc108f_1_139"/>
          <p:cNvSpPr txBox="1"/>
          <p:nvPr/>
        </p:nvSpPr>
        <p:spPr>
          <a:xfrm>
            <a:off x="781812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
        <p:nvSpPr>
          <p:cNvPr id="204" name="Google Shape;204;h1a3ff83170dc108f_1_139"/>
          <p:cNvSpPr txBox="1"/>
          <p:nvPr/>
        </p:nvSpPr>
        <p:spPr>
          <a:xfrm>
            <a:off x="818388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205" name="Google Shape;205;h1a3ff83170dc108f_1_139"/>
          <p:cNvSpPr txBox="1"/>
          <p:nvPr/>
        </p:nvSpPr>
        <p:spPr>
          <a:xfrm>
            <a:off x="854964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206" name="Google Shape;206;h1a3ff83170dc108f_1_139"/>
          <p:cNvSpPr txBox="1"/>
          <p:nvPr/>
        </p:nvSpPr>
        <p:spPr>
          <a:xfrm>
            <a:off x="891540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
        <p:nvSpPr>
          <p:cNvPr id="207" name="Google Shape;207;h1a3ff83170dc108f_1_139"/>
          <p:cNvSpPr txBox="1"/>
          <p:nvPr/>
        </p:nvSpPr>
        <p:spPr>
          <a:xfrm>
            <a:off x="928116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
        <p:nvSpPr>
          <p:cNvPr id="208" name="Google Shape;208;h1a3ff83170dc108f_1_139"/>
          <p:cNvSpPr txBox="1"/>
          <p:nvPr/>
        </p:nvSpPr>
        <p:spPr>
          <a:xfrm>
            <a:off x="964692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sp>
        <p:nvSpPr>
          <p:cNvPr id="209" name="Google Shape;209;h1a3ff83170dc108f_1_139"/>
          <p:cNvSpPr txBox="1"/>
          <p:nvPr/>
        </p:nvSpPr>
        <p:spPr>
          <a:xfrm>
            <a:off x="1001268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
        <p:nvSpPr>
          <p:cNvPr id="210" name="Google Shape;210;h1a3ff83170dc108f_1_139"/>
          <p:cNvSpPr txBox="1"/>
          <p:nvPr/>
        </p:nvSpPr>
        <p:spPr>
          <a:xfrm>
            <a:off x="10378440" y="1856232"/>
            <a:ext cx="365760"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18</a:t>
            </a:r>
            <a:endParaRPr b="0" i="0" sz="1000" u="none" cap="none" strike="noStrike">
              <a:solidFill>
                <a:schemeClr val="dk1"/>
              </a:solidFill>
              <a:latin typeface="Calibri"/>
              <a:ea typeface="Calibri"/>
              <a:cs typeface="Calibri"/>
              <a:sym typeface="Calibri"/>
            </a:endParaRPr>
          </a:p>
        </p:txBody>
      </p:sp>
      <p:sp>
        <p:nvSpPr>
          <p:cNvPr id="211" name="Google Shape;211;h1a3ff83170dc108f_1_139"/>
          <p:cNvSpPr txBox="1"/>
          <p:nvPr/>
        </p:nvSpPr>
        <p:spPr>
          <a:xfrm>
            <a:off x="10835640" y="1572768"/>
            <a:ext cx="80467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Atraso</a:t>
            </a:r>
            <a:endParaRPr b="0" i="0" sz="1100" u="none" cap="none" strike="noStrike">
              <a:solidFill>
                <a:schemeClr val="dk1"/>
              </a:solidFill>
              <a:latin typeface="Calibri"/>
              <a:ea typeface="Calibri"/>
              <a:cs typeface="Calibri"/>
              <a:sym typeface="Calibri"/>
            </a:endParaRPr>
          </a:p>
        </p:txBody>
      </p:sp>
      <p:sp>
        <p:nvSpPr>
          <p:cNvPr id="212" name="Google Shape;212;h1a3ff83170dc108f_1_139"/>
          <p:cNvSpPr/>
          <p:nvPr/>
        </p:nvSpPr>
        <p:spPr>
          <a:xfrm>
            <a:off x="548640" y="2148840"/>
            <a:ext cx="11091672" cy="4114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h1a3ff83170dc108f_1_139"/>
          <p:cNvSpPr txBox="1"/>
          <p:nvPr/>
        </p:nvSpPr>
        <p:spPr>
          <a:xfrm>
            <a:off x="685800" y="214884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Especificación y diseño</a:t>
            </a:r>
            <a:endParaRPr b="0" i="0" sz="1300" u="none" cap="none" strike="noStrike">
              <a:solidFill>
                <a:schemeClr val="dk1"/>
              </a:solidFill>
              <a:latin typeface="Calibri"/>
              <a:ea typeface="Calibri"/>
              <a:cs typeface="Calibri"/>
              <a:sym typeface="Calibri"/>
            </a:endParaRPr>
          </a:p>
        </p:txBody>
      </p:sp>
      <p:sp>
        <p:nvSpPr>
          <p:cNvPr id="214" name="Google Shape;214;h1a3ff83170dc108f_1_139"/>
          <p:cNvSpPr txBox="1"/>
          <p:nvPr/>
        </p:nvSpPr>
        <p:spPr>
          <a:xfrm>
            <a:off x="3611880" y="214884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Todos</a:t>
            </a:r>
            <a:endParaRPr b="0" i="0" sz="1200" u="none" cap="none" strike="noStrike">
              <a:solidFill>
                <a:schemeClr val="dk1"/>
              </a:solidFill>
              <a:latin typeface="Calibri"/>
              <a:ea typeface="Calibri"/>
              <a:cs typeface="Calibri"/>
              <a:sym typeface="Calibri"/>
            </a:endParaRPr>
          </a:p>
        </p:txBody>
      </p:sp>
      <p:sp>
        <p:nvSpPr>
          <p:cNvPr id="215" name="Google Shape;215;h1a3ff83170dc108f_1_139"/>
          <p:cNvSpPr/>
          <p:nvPr/>
        </p:nvSpPr>
        <p:spPr>
          <a:xfrm>
            <a:off x="4178808" y="2203704"/>
            <a:ext cx="142646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h1a3ff83170dc108f_1_139"/>
          <p:cNvSpPr/>
          <p:nvPr/>
        </p:nvSpPr>
        <p:spPr>
          <a:xfrm>
            <a:off x="4178808" y="2322576"/>
            <a:ext cx="1426464" cy="182880"/>
          </a:xfrm>
          <a:prstGeom prst="roundRec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h1a3ff83170dc108f_1_139"/>
          <p:cNvSpPr txBox="1"/>
          <p:nvPr/>
        </p:nvSpPr>
        <p:spPr>
          <a:xfrm>
            <a:off x="10835640" y="214884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18" name="Google Shape;218;h1a3ff83170dc108f_1_139"/>
          <p:cNvSpPr txBox="1"/>
          <p:nvPr/>
        </p:nvSpPr>
        <p:spPr>
          <a:xfrm>
            <a:off x="685800" y="256032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Épica 001</a:t>
            </a:r>
            <a:r>
              <a:rPr b="0" i="0" lang="en-US" sz="1300" u="none" cap="none" strike="noStrike">
                <a:solidFill>
                  <a:schemeClr val="dk1"/>
                </a:solidFill>
                <a:latin typeface="Calibri"/>
                <a:ea typeface="Calibri"/>
                <a:cs typeface="Calibri"/>
                <a:sym typeface="Calibri"/>
              </a:rPr>
              <a:t> · Autenticación y roles</a:t>
            </a:r>
            <a:endParaRPr b="0" i="0" sz="1300" u="none" cap="none" strike="noStrike">
              <a:solidFill>
                <a:schemeClr val="dk1"/>
              </a:solidFill>
              <a:latin typeface="Calibri"/>
              <a:ea typeface="Calibri"/>
              <a:cs typeface="Calibri"/>
              <a:sym typeface="Calibri"/>
            </a:endParaRPr>
          </a:p>
        </p:txBody>
      </p:sp>
      <p:sp>
        <p:nvSpPr>
          <p:cNvPr id="219" name="Google Shape;219;h1a3ff83170dc108f_1_139"/>
          <p:cNvSpPr txBox="1"/>
          <p:nvPr/>
        </p:nvSpPr>
        <p:spPr>
          <a:xfrm>
            <a:off x="3611880" y="256032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FD</a:t>
            </a:r>
            <a:endParaRPr b="0" i="0" sz="1200" u="none" cap="none" strike="noStrike">
              <a:solidFill>
                <a:schemeClr val="dk1"/>
              </a:solidFill>
              <a:latin typeface="Calibri"/>
              <a:ea typeface="Calibri"/>
              <a:cs typeface="Calibri"/>
              <a:sym typeface="Calibri"/>
            </a:endParaRPr>
          </a:p>
        </p:txBody>
      </p:sp>
      <p:sp>
        <p:nvSpPr>
          <p:cNvPr id="220" name="Google Shape;220;h1a3ff83170dc108f_1_139"/>
          <p:cNvSpPr/>
          <p:nvPr/>
        </p:nvSpPr>
        <p:spPr>
          <a:xfrm>
            <a:off x="5641848" y="2615184"/>
            <a:ext cx="142646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h1a3ff83170dc108f_1_139"/>
          <p:cNvSpPr/>
          <p:nvPr/>
        </p:nvSpPr>
        <p:spPr>
          <a:xfrm>
            <a:off x="5641848" y="2734056"/>
            <a:ext cx="1792224" cy="182880"/>
          </a:xfrm>
          <a:prstGeom prst="roundRec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h1a3ff83170dc108f_1_139"/>
          <p:cNvSpPr txBox="1"/>
          <p:nvPr/>
        </p:nvSpPr>
        <p:spPr>
          <a:xfrm>
            <a:off x="10835640" y="256032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+1 sem</a:t>
            </a:r>
            <a:endParaRPr b="0" i="0" sz="1200" u="none" cap="none" strike="noStrike">
              <a:solidFill>
                <a:schemeClr val="dk1"/>
              </a:solidFill>
              <a:latin typeface="Calibri"/>
              <a:ea typeface="Calibri"/>
              <a:cs typeface="Calibri"/>
              <a:sym typeface="Calibri"/>
            </a:endParaRPr>
          </a:p>
        </p:txBody>
      </p:sp>
      <p:sp>
        <p:nvSpPr>
          <p:cNvPr id="223" name="Google Shape;223;h1a3ff83170dc108f_1_139"/>
          <p:cNvSpPr/>
          <p:nvPr/>
        </p:nvSpPr>
        <p:spPr>
          <a:xfrm>
            <a:off x="548640" y="2971800"/>
            <a:ext cx="11091672" cy="4114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h1a3ff83170dc108f_1_139"/>
          <p:cNvSpPr txBox="1"/>
          <p:nvPr/>
        </p:nvSpPr>
        <p:spPr>
          <a:xfrm>
            <a:off x="685800" y="297180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Épica 002</a:t>
            </a:r>
            <a:r>
              <a:rPr b="0" i="0" lang="en-US" sz="1300" u="none" cap="none" strike="noStrike">
                <a:solidFill>
                  <a:schemeClr val="dk1"/>
                </a:solidFill>
                <a:latin typeface="Calibri"/>
                <a:ea typeface="Calibri"/>
                <a:cs typeface="Calibri"/>
                <a:sym typeface="Calibri"/>
              </a:rPr>
              <a:t> · Monitoreo de red</a:t>
            </a:r>
            <a:endParaRPr b="0" i="0" sz="1300" u="none" cap="none" strike="noStrike">
              <a:solidFill>
                <a:schemeClr val="dk1"/>
              </a:solidFill>
              <a:latin typeface="Calibri"/>
              <a:ea typeface="Calibri"/>
              <a:cs typeface="Calibri"/>
              <a:sym typeface="Calibri"/>
            </a:endParaRPr>
          </a:p>
        </p:txBody>
      </p:sp>
      <p:sp>
        <p:nvSpPr>
          <p:cNvPr id="225" name="Google Shape;225;h1a3ff83170dc108f_1_139"/>
          <p:cNvSpPr txBox="1"/>
          <p:nvPr/>
        </p:nvSpPr>
        <p:spPr>
          <a:xfrm>
            <a:off x="3611880" y="297180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IC</a:t>
            </a:r>
            <a:endParaRPr b="0" i="0" sz="1200" u="none" cap="none" strike="noStrike">
              <a:solidFill>
                <a:schemeClr val="dk1"/>
              </a:solidFill>
              <a:latin typeface="Calibri"/>
              <a:ea typeface="Calibri"/>
              <a:cs typeface="Calibri"/>
              <a:sym typeface="Calibri"/>
            </a:endParaRPr>
          </a:p>
        </p:txBody>
      </p:sp>
      <p:sp>
        <p:nvSpPr>
          <p:cNvPr id="226" name="Google Shape;226;h1a3ff83170dc108f_1_139"/>
          <p:cNvSpPr/>
          <p:nvPr/>
        </p:nvSpPr>
        <p:spPr>
          <a:xfrm>
            <a:off x="5641848" y="3026664"/>
            <a:ext cx="179222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h1a3ff83170dc108f_1_139"/>
          <p:cNvSpPr/>
          <p:nvPr/>
        </p:nvSpPr>
        <p:spPr>
          <a:xfrm>
            <a:off x="5641848" y="3145536"/>
            <a:ext cx="2889504" cy="182880"/>
          </a:xfrm>
          <a:prstGeom prst="roundRect">
            <a:avLst>
              <a:gd fmla="val 25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h1a3ff83170dc108f_1_139"/>
          <p:cNvSpPr txBox="1"/>
          <p:nvPr/>
        </p:nvSpPr>
        <p:spPr>
          <a:xfrm>
            <a:off x="10835640" y="297180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+3 sem</a:t>
            </a:r>
            <a:endParaRPr b="0" i="0" sz="1200" u="none" cap="none" strike="noStrike">
              <a:solidFill>
                <a:schemeClr val="dk1"/>
              </a:solidFill>
              <a:latin typeface="Calibri"/>
              <a:ea typeface="Calibri"/>
              <a:cs typeface="Calibri"/>
              <a:sym typeface="Calibri"/>
            </a:endParaRPr>
          </a:p>
        </p:txBody>
      </p:sp>
      <p:sp>
        <p:nvSpPr>
          <p:cNvPr id="229" name="Google Shape;229;h1a3ff83170dc108f_1_139"/>
          <p:cNvSpPr txBox="1"/>
          <p:nvPr/>
        </p:nvSpPr>
        <p:spPr>
          <a:xfrm>
            <a:off x="685800" y="338328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Épica 003</a:t>
            </a:r>
            <a:r>
              <a:rPr b="0" i="0" lang="en-US" sz="1300" u="none" cap="none" strike="noStrike">
                <a:solidFill>
                  <a:schemeClr val="dk1"/>
                </a:solidFill>
                <a:latin typeface="Calibri"/>
                <a:ea typeface="Calibri"/>
                <a:cs typeface="Calibri"/>
                <a:sym typeface="Calibri"/>
              </a:rPr>
              <a:t> · Chat, CSV y VLAN</a:t>
            </a:r>
            <a:endParaRPr b="0" i="0" sz="1300" u="none" cap="none" strike="noStrike">
              <a:solidFill>
                <a:schemeClr val="dk1"/>
              </a:solidFill>
              <a:latin typeface="Calibri"/>
              <a:ea typeface="Calibri"/>
              <a:cs typeface="Calibri"/>
              <a:sym typeface="Calibri"/>
            </a:endParaRPr>
          </a:p>
        </p:txBody>
      </p:sp>
      <p:sp>
        <p:nvSpPr>
          <p:cNvPr id="230" name="Google Shape;230;h1a3ff83170dc108f_1_139"/>
          <p:cNvSpPr txBox="1"/>
          <p:nvPr/>
        </p:nvSpPr>
        <p:spPr>
          <a:xfrm>
            <a:off x="3611880" y="338328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BH</a:t>
            </a:r>
            <a:endParaRPr b="0" i="0" sz="1200" u="none" cap="none" strike="noStrike">
              <a:solidFill>
                <a:schemeClr val="dk1"/>
              </a:solidFill>
              <a:latin typeface="Calibri"/>
              <a:ea typeface="Calibri"/>
              <a:cs typeface="Calibri"/>
              <a:sym typeface="Calibri"/>
            </a:endParaRPr>
          </a:p>
        </p:txBody>
      </p:sp>
      <p:sp>
        <p:nvSpPr>
          <p:cNvPr id="231" name="Google Shape;231;h1a3ff83170dc108f_1_139"/>
          <p:cNvSpPr/>
          <p:nvPr/>
        </p:nvSpPr>
        <p:spPr>
          <a:xfrm>
            <a:off x="5641848" y="3438144"/>
            <a:ext cx="179222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h1a3ff83170dc108f_1_139"/>
          <p:cNvSpPr/>
          <p:nvPr/>
        </p:nvSpPr>
        <p:spPr>
          <a:xfrm>
            <a:off x="7470648" y="3557016"/>
            <a:ext cx="1426464" cy="182880"/>
          </a:xfrm>
          <a:prstGeom prst="roundRec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h1a3ff83170dc108f_1_139"/>
          <p:cNvSpPr txBox="1"/>
          <p:nvPr/>
        </p:nvSpPr>
        <p:spPr>
          <a:xfrm>
            <a:off x="10835640" y="338328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+4 sem</a:t>
            </a:r>
            <a:endParaRPr b="0" i="0" sz="1200" u="none" cap="none" strike="noStrike">
              <a:solidFill>
                <a:schemeClr val="dk1"/>
              </a:solidFill>
              <a:latin typeface="Calibri"/>
              <a:ea typeface="Calibri"/>
              <a:cs typeface="Calibri"/>
              <a:sym typeface="Calibri"/>
            </a:endParaRPr>
          </a:p>
        </p:txBody>
      </p:sp>
      <p:sp>
        <p:nvSpPr>
          <p:cNvPr id="234" name="Google Shape;234;h1a3ff83170dc108f_1_139"/>
          <p:cNvSpPr/>
          <p:nvPr/>
        </p:nvSpPr>
        <p:spPr>
          <a:xfrm>
            <a:off x="548640" y="3794760"/>
            <a:ext cx="11091672" cy="4114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h1a3ff83170dc108f_1_139"/>
          <p:cNvSpPr txBox="1"/>
          <p:nvPr/>
        </p:nvSpPr>
        <p:spPr>
          <a:xfrm>
            <a:off x="685800" y="379476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Épica 004</a:t>
            </a:r>
            <a:r>
              <a:rPr b="0" i="0" lang="en-US" sz="1300" u="none" cap="none" strike="noStrike">
                <a:solidFill>
                  <a:schemeClr val="dk1"/>
                </a:solidFill>
                <a:latin typeface="Calibri"/>
                <a:ea typeface="Calibri"/>
                <a:cs typeface="Calibri"/>
                <a:sym typeface="Calibri"/>
              </a:rPr>
              <a:t> · Ejecución de cambios</a:t>
            </a:r>
            <a:endParaRPr b="0" i="0" sz="1300" u="none" cap="none" strike="noStrike">
              <a:solidFill>
                <a:schemeClr val="dk1"/>
              </a:solidFill>
              <a:latin typeface="Calibri"/>
              <a:ea typeface="Calibri"/>
              <a:cs typeface="Calibri"/>
              <a:sym typeface="Calibri"/>
            </a:endParaRPr>
          </a:p>
        </p:txBody>
      </p:sp>
      <p:sp>
        <p:nvSpPr>
          <p:cNvPr id="236" name="Google Shape;236;h1a3ff83170dc108f_1_139"/>
          <p:cNvSpPr txBox="1"/>
          <p:nvPr/>
        </p:nvSpPr>
        <p:spPr>
          <a:xfrm>
            <a:off x="3611880" y="379476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FD</a:t>
            </a:r>
            <a:endParaRPr b="0" i="0" sz="1200" u="none" cap="none" strike="noStrike">
              <a:solidFill>
                <a:schemeClr val="dk1"/>
              </a:solidFill>
              <a:latin typeface="Calibri"/>
              <a:ea typeface="Calibri"/>
              <a:cs typeface="Calibri"/>
              <a:sym typeface="Calibri"/>
            </a:endParaRPr>
          </a:p>
        </p:txBody>
      </p:sp>
      <p:sp>
        <p:nvSpPr>
          <p:cNvPr id="237" name="Google Shape;237;h1a3ff83170dc108f_1_139"/>
          <p:cNvSpPr/>
          <p:nvPr/>
        </p:nvSpPr>
        <p:spPr>
          <a:xfrm>
            <a:off x="7104888" y="3849624"/>
            <a:ext cx="215798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h1a3ff83170dc108f_1_139"/>
          <p:cNvSpPr/>
          <p:nvPr/>
        </p:nvSpPr>
        <p:spPr>
          <a:xfrm>
            <a:off x="8202168" y="3968496"/>
            <a:ext cx="1792224" cy="182880"/>
          </a:xfrm>
          <a:prstGeom prst="roundRec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h1a3ff83170dc108f_1_139"/>
          <p:cNvSpPr txBox="1"/>
          <p:nvPr/>
        </p:nvSpPr>
        <p:spPr>
          <a:xfrm>
            <a:off x="10835640" y="379476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+2 sem</a:t>
            </a:r>
            <a:endParaRPr b="0" i="0" sz="1200" u="none" cap="none" strike="noStrike">
              <a:solidFill>
                <a:schemeClr val="dk1"/>
              </a:solidFill>
              <a:latin typeface="Calibri"/>
              <a:ea typeface="Calibri"/>
              <a:cs typeface="Calibri"/>
              <a:sym typeface="Calibri"/>
            </a:endParaRPr>
          </a:p>
        </p:txBody>
      </p:sp>
      <p:sp>
        <p:nvSpPr>
          <p:cNvPr id="240" name="Google Shape;240;h1a3ff83170dc108f_1_139"/>
          <p:cNvSpPr txBox="1"/>
          <p:nvPr/>
        </p:nvSpPr>
        <p:spPr>
          <a:xfrm>
            <a:off x="685800" y="420624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Épica 005</a:t>
            </a:r>
            <a:r>
              <a:rPr b="0" i="0" lang="en-US" sz="1300" u="none" cap="none" strike="noStrike">
                <a:solidFill>
                  <a:schemeClr val="dk1"/>
                </a:solidFill>
                <a:latin typeface="Calibri"/>
                <a:ea typeface="Calibri"/>
                <a:cs typeface="Calibri"/>
                <a:sym typeface="Calibri"/>
              </a:rPr>
              <a:t> · Tickets y notificaciones</a:t>
            </a:r>
            <a:endParaRPr b="0" i="0" sz="1300" u="none" cap="none" strike="noStrike">
              <a:solidFill>
                <a:schemeClr val="dk1"/>
              </a:solidFill>
              <a:latin typeface="Calibri"/>
              <a:ea typeface="Calibri"/>
              <a:cs typeface="Calibri"/>
              <a:sym typeface="Calibri"/>
            </a:endParaRPr>
          </a:p>
        </p:txBody>
      </p:sp>
      <p:sp>
        <p:nvSpPr>
          <p:cNvPr id="241" name="Google Shape;241;h1a3ff83170dc108f_1_139"/>
          <p:cNvSpPr txBox="1"/>
          <p:nvPr/>
        </p:nvSpPr>
        <p:spPr>
          <a:xfrm>
            <a:off x="3611880" y="420624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IC</a:t>
            </a:r>
            <a:endParaRPr b="0" i="0" sz="1200" u="none" cap="none" strike="noStrike">
              <a:solidFill>
                <a:schemeClr val="dk1"/>
              </a:solidFill>
              <a:latin typeface="Calibri"/>
              <a:ea typeface="Calibri"/>
              <a:cs typeface="Calibri"/>
              <a:sym typeface="Calibri"/>
            </a:endParaRPr>
          </a:p>
        </p:txBody>
      </p:sp>
      <p:sp>
        <p:nvSpPr>
          <p:cNvPr id="242" name="Google Shape;242;h1a3ff83170dc108f_1_139"/>
          <p:cNvSpPr/>
          <p:nvPr/>
        </p:nvSpPr>
        <p:spPr>
          <a:xfrm>
            <a:off x="7470648" y="4261104"/>
            <a:ext cx="179222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h1a3ff83170dc108f_1_139"/>
          <p:cNvSpPr/>
          <p:nvPr/>
        </p:nvSpPr>
        <p:spPr>
          <a:xfrm>
            <a:off x="7836408" y="4379976"/>
            <a:ext cx="1060704" cy="182880"/>
          </a:xfrm>
          <a:prstGeom prst="roundRec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h1a3ff83170dc108f_1_139"/>
          <p:cNvSpPr txBox="1"/>
          <p:nvPr/>
        </p:nvSpPr>
        <p:spPr>
          <a:xfrm>
            <a:off x="10835640" y="420624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mínima</a:t>
            </a:r>
            <a:endParaRPr b="0" i="0" sz="1200" u="none" cap="none" strike="noStrike">
              <a:solidFill>
                <a:schemeClr val="dk1"/>
              </a:solidFill>
              <a:latin typeface="Calibri"/>
              <a:ea typeface="Calibri"/>
              <a:cs typeface="Calibri"/>
              <a:sym typeface="Calibri"/>
            </a:endParaRPr>
          </a:p>
        </p:txBody>
      </p:sp>
      <p:sp>
        <p:nvSpPr>
          <p:cNvPr id="245" name="Google Shape;245;h1a3ff83170dc108f_1_139"/>
          <p:cNvSpPr/>
          <p:nvPr/>
        </p:nvSpPr>
        <p:spPr>
          <a:xfrm>
            <a:off x="548640" y="4617720"/>
            <a:ext cx="11091672" cy="4114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h1a3ff83170dc108f_1_139"/>
          <p:cNvSpPr txBox="1"/>
          <p:nvPr/>
        </p:nvSpPr>
        <p:spPr>
          <a:xfrm>
            <a:off x="685800" y="461772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Épica 006</a:t>
            </a:r>
            <a:r>
              <a:rPr b="0" i="0" lang="en-US" sz="1300" u="none" cap="none" strike="noStrike">
                <a:solidFill>
                  <a:schemeClr val="dk1"/>
                </a:solidFill>
                <a:latin typeface="Calibri"/>
                <a:ea typeface="Calibri"/>
                <a:cs typeface="Calibri"/>
                <a:sym typeface="Calibri"/>
              </a:rPr>
              <a:t> · Multi-agente</a:t>
            </a:r>
            <a:endParaRPr b="0" i="0" sz="1300" u="none" cap="none" strike="noStrike">
              <a:solidFill>
                <a:schemeClr val="dk1"/>
              </a:solidFill>
              <a:latin typeface="Calibri"/>
              <a:ea typeface="Calibri"/>
              <a:cs typeface="Calibri"/>
              <a:sym typeface="Calibri"/>
            </a:endParaRPr>
          </a:p>
        </p:txBody>
      </p:sp>
      <p:sp>
        <p:nvSpPr>
          <p:cNvPr id="247" name="Google Shape;247;h1a3ff83170dc108f_1_139"/>
          <p:cNvSpPr txBox="1"/>
          <p:nvPr/>
        </p:nvSpPr>
        <p:spPr>
          <a:xfrm>
            <a:off x="3611880" y="461772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BH</a:t>
            </a:r>
            <a:endParaRPr b="0" i="0" sz="1200" u="none" cap="none" strike="noStrike">
              <a:solidFill>
                <a:schemeClr val="dk1"/>
              </a:solidFill>
              <a:latin typeface="Calibri"/>
              <a:ea typeface="Calibri"/>
              <a:cs typeface="Calibri"/>
              <a:sym typeface="Calibri"/>
            </a:endParaRPr>
          </a:p>
        </p:txBody>
      </p:sp>
      <p:sp>
        <p:nvSpPr>
          <p:cNvPr id="248" name="Google Shape;248;h1a3ff83170dc108f_1_139"/>
          <p:cNvSpPr/>
          <p:nvPr/>
        </p:nvSpPr>
        <p:spPr>
          <a:xfrm>
            <a:off x="7470648" y="4672584"/>
            <a:ext cx="179222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h1a3ff83170dc108f_1_139"/>
          <p:cNvSpPr/>
          <p:nvPr/>
        </p:nvSpPr>
        <p:spPr>
          <a:xfrm>
            <a:off x="7836408" y="4791456"/>
            <a:ext cx="1060704" cy="182880"/>
          </a:xfrm>
          <a:prstGeom prst="roundRec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h1a3ff83170dc108f_1_139"/>
          <p:cNvSpPr txBox="1"/>
          <p:nvPr/>
        </p:nvSpPr>
        <p:spPr>
          <a:xfrm>
            <a:off x="10835640" y="461772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mínima</a:t>
            </a:r>
            <a:endParaRPr b="0" i="0" sz="1200" u="none" cap="none" strike="noStrike">
              <a:solidFill>
                <a:schemeClr val="dk1"/>
              </a:solidFill>
              <a:latin typeface="Calibri"/>
              <a:ea typeface="Calibri"/>
              <a:cs typeface="Calibri"/>
              <a:sym typeface="Calibri"/>
            </a:endParaRPr>
          </a:p>
        </p:txBody>
      </p:sp>
      <p:sp>
        <p:nvSpPr>
          <p:cNvPr id="251" name="Google Shape;251;h1a3ff83170dc108f_1_139"/>
          <p:cNvSpPr txBox="1"/>
          <p:nvPr/>
        </p:nvSpPr>
        <p:spPr>
          <a:xfrm>
            <a:off x="685800" y="502920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Documentación y evidencias</a:t>
            </a:r>
            <a:endParaRPr b="0" i="0" sz="1300" u="none" cap="none" strike="noStrike">
              <a:solidFill>
                <a:schemeClr val="dk1"/>
              </a:solidFill>
              <a:latin typeface="Calibri"/>
              <a:ea typeface="Calibri"/>
              <a:cs typeface="Calibri"/>
              <a:sym typeface="Calibri"/>
            </a:endParaRPr>
          </a:p>
        </p:txBody>
      </p:sp>
      <p:sp>
        <p:nvSpPr>
          <p:cNvPr id="252" name="Google Shape;252;h1a3ff83170dc108f_1_139"/>
          <p:cNvSpPr txBox="1"/>
          <p:nvPr/>
        </p:nvSpPr>
        <p:spPr>
          <a:xfrm>
            <a:off x="3611880" y="502920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Todos</a:t>
            </a:r>
            <a:endParaRPr b="0" i="0" sz="1200" u="none" cap="none" strike="noStrike">
              <a:solidFill>
                <a:schemeClr val="dk1"/>
              </a:solidFill>
              <a:latin typeface="Calibri"/>
              <a:ea typeface="Calibri"/>
              <a:cs typeface="Calibri"/>
              <a:sym typeface="Calibri"/>
            </a:endParaRPr>
          </a:p>
        </p:txBody>
      </p:sp>
      <p:sp>
        <p:nvSpPr>
          <p:cNvPr id="253" name="Google Shape;253;h1a3ff83170dc108f_1_139"/>
          <p:cNvSpPr/>
          <p:nvPr/>
        </p:nvSpPr>
        <p:spPr>
          <a:xfrm>
            <a:off x="7104888" y="5202936"/>
            <a:ext cx="1060704" cy="182880"/>
          </a:xfrm>
          <a:prstGeom prst="roundRect">
            <a:avLst>
              <a:gd fmla="val 25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h1a3ff83170dc108f_1_139"/>
          <p:cNvSpPr txBox="1"/>
          <p:nvPr/>
        </p:nvSpPr>
        <p:spPr>
          <a:xfrm>
            <a:off x="10835640" y="502920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nueva</a:t>
            </a:r>
            <a:endParaRPr b="0" i="0" sz="1200" u="none" cap="none" strike="noStrike">
              <a:solidFill>
                <a:schemeClr val="dk1"/>
              </a:solidFill>
              <a:latin typeface="Calibri"/>
              <a:ea typeface="Calibri"/>
              <a:cs typeface="Calibri"/>
              <a:sym typeface="Calibri"/>
            </a:endParaRPr>
          </a:p>
        </p:txBody>
      </p:sp>
      <p:sp>
        <p:nvSpPr>
          <p:cNvPr id="255" name="Google Shape;255;h1a3ff83170dc108f_1_139"/>
          <p:cNvSpPr/>
          <p:nvPr/>
        </p:nvSpPr>
        <p:spPr>
          <a:xfrm>
            <a:off x="548640" y="5440680"/>
            <a:ext cx="11091672" cy="4114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h1a3ff83170dc108f_1_139"/>
          <p:cNvSpPr txBox="1"/>
          <p:nvPr/>
        </p:nvSpPr>
        <p:spPr>
          <a:xfrm>
            <a:off x="685800" y="544068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Integración, pruebas E2E y cierre</a:t>
            </a:r>
            <a:endParaRPr b="0" i="0" sz="1300" u="none" cap="none" strike="noStrike">
              <a:solidFill>
                <a:schemeClr val="dk1"/>
              </a:solidFill>
              <a:latin typeface="Calibri"/>
              <a:ea typeface="Calibri"/>
              <a:cs typeface="Calibri"/>
              <a:sym typeface="Calibri"/>
            </a:endParaRPr>
          </a:p>
        </p:txBody>
      </p:sp>
      <p:sp>
        <p:nvSpPr>
          <p:cNvPr id="257" name="Google Shape;257;h1a3ff83170dc108f_1_139"/>
          <p:cNvSpPr txBox="1"/>
          <p:nvPr/>
        </p:nvSpPr>
        <p:spPr>
          <a:xfrm>
            <a:off x="3611880" y="544068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Todos</a:t>
            </a:r>
            <a:endParaRPr b="0" i="0" sz="1200" u="none" cap="none" strike="noStrike">
              <a:solidFill>
                <a:schemeClr val="dk1"/>
              </a:solidFill>
              <a:latin typeface="Calibri"/>
              <a:ea typeface="Calibri"/>
              <a:cs typeface="Calibri"/>
              <a:sym typeface="Calibri"/>
            </a:endParaRPr>
          </a:p>
        </p:txBody>
      </p:sp>
      <p:sp>
        <p:nvSpPr>
          <p:cNvPr id="258" name="Google Shape;258;h1a3ff83170dc108f_1_139"/>
          <p:cNvSpPr/>
          <p:nvPr/>
        </p:nvSpPr>
        <p:spPr>
          <a:xfrm>
            <a:off x="9299448" y="5495544"/>
            <a:ext cx="694944"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h1a3ff83170dc108f_1_139"/>
          <p:cNvSpPr/>
          <p:nvPr/>
        </p:nvSpPr>
        <p:spPr>
          <a:xfrm>
            <a:off x="9299448" y="5614416"/>
            <a:ext cx="1426464" cy="182880"/>
          </a:xfrm>
          <a:prstGeom prst="roundRec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h1a3ff83170dc108f_1_139"/>
          <p:cNvSpPr txBox="1"/>
          <p:nvPr/>
        </p:nvSpPr>
        <p:spPr>
          <a:xfrm>
            <a:off x="10835640" y="5440680"/>
            <a:ext cx="804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sin holgura</a:t>
            </a:r>
            <a:endParaRPr b="0" i="0" sz="1200" u="none" cap="none" strike="noStrike">
              <a:solidFill>
                <a:schemeClr val="dk1"/>
              </a:solidFill>
              <a:latin typeface="Calibri"/>
              <a:ea typeface="Calibri"/>
              <a:cs typeface="Calibri"/>
              <a:sym typeface="Calibri"/>
            </a:endParaRPr>
          </a:p>
        </p:txBody>
      </p:sp>
      <p:cxnSp>
        <p:nvCxnSpPr>
          <p:cNvPr id="261" name="Google Shape;261;h1a3ff83170dc108f_1_139"/>
          <p:cNvCxnSpPr/>
          <p:nvPr/>
        </p:nvCxnSpPr>
        <p:spPr>
          <a:xfrm>
            <a:off x="7452360" y="2148840"/>
            <a:ext cx="0" cy="3703320"/>
          </a:xfrm>
          <a:prstGeom prst="straightConnector1">
            <a:avLst/>
          </a:prstGeom>
          <a:noFill/>
          <a:ln cap="flat" cmpd="sng" w="22225">
            <a:solidFill>
              <a:srgbClr val="028090"/>
            </a:solidFill>
            <a:prstDash val="dash"/>
            <a:round/>
            <a:headEnd len="sm" w="sm" type="none"/>
            <a:tailEnd len="sm" w="sm" type="none"/>
          </a:ln>
        </p:spPr>
      </p:cxnSp>
      <p:sp>
        <p:nvSpPr>
          <p:cNvPr id="262" name="Google Shape;262;h1a3ff83170dc108f_1_139"/>
          <p:cNvSpPr/>
          <p:nvPr/>
        </p:nvSpPr>
        <p:spPr>
          <a:xfrm>
            <a:off x="6903720" y="5943600"/>
            <a:ext cx="1097280" cy="256032"/>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h1a3ff83170dc108f_1_139"/>
          <p:cNvSpPr txBox="1"/>
          <p:nvPr/>
        </p:nvSpPr>
        <p:spPr>
          <a:xfrm>
            <a:off x="6903720" y="5943600"/>
            <a:ext cx="10972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Hoy · sem. 10</a:t>
            </a:r>
            <a:endParaRPr b="0" i="0" sz="1100" u="none" cap="none" strike="noStrike">
              <a:solidFill>
                <a:schemeClr val="dk1"/>
              </a:solidFill>
              <a:latin typeface="Calibri"/>
              <a:ea typeface="Calibri"/>
              <a:cs typeface="Calibri"/>
              <a:sym typeface="Calibri"/>
            </a:endParaRPr>
          </a:p>
        </p:txBody>
      </p:sp>
      <p:sp>
        <p:nvSpPr>
          <p:cNvPr id="264" name="Google Shape;264;h1a3ff83170dc108f_1_139"/>
          <p:cNvSpPr/>
          <p:nvPr/>
        </p:nvSpPr>
        <p:spPr>
          <a:xfrm>
            <a:off x="685800" y="6025896"/>
            <a:ext cx="274320" cy="9144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h1a3ff83170dc108f_1_139"/>
          <p:cNvSpPr txBox="1"/>
          <p:nvPr/>
        </p:nvSpPr>
        <p:spPr>
          <a:xfrm>
            <a:off x="1051560" y="5943600"/>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Plan original</a:t>
            </a:r>
            <a:endParaRPr b="0" i="0" sz="1200" u="none" cap="none" strike="noStrike">
              <a:solidFill>
                <a:schemeClr val="dk1"/>
              </a:solidFill>
              <a:latin typeface="Calibri"/>
              <a:ea typeface="Calibri"/>
              <a:cs typeface="Calibri"/>
              <a:sym typeface="Calibri"/>
            </a:endParaRPr>
          </a:p>
        </p:txBody>
      </p:sp>
      <p:sp>
        <p:nvSpPr>
          <p:cNvPr id="266" name="Google Shape;266;h1a3ff83170dc108f_1_139"/>
          <p:cNvSpPr/>
          <p:nvPr/>
        </p:nvSpPr>
        <p:spPr>
          <a:xfrm>
            <a:off x="2286000" y="5989320"/>
            <a:ext cx="274320" cy="164592"/>
          </a:xfrm>
          <a:prstGeom prst="roundRect">
            <a:avLst>
              <a:gd fmla="val 2777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h1a3ff83170dc108f_1_139"/>
          <p:cNvSpPr txBox="1"/>
          <p:nvPr/>
        </p:nvSpPr>
        <p:spPr>
          <a:xfrm>
            <a:off x="2651760" y="594360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Completada</a:t>
            </a:r>
            <a:endParaRPr b="0" i="0" sz="1200" u="none" cap="none" strike="noStrike">
              <a:solidFill>
                <a:schemeClr val="dk1"/>
              </a:solidFill>
              <a:latin typeface="Calibri"/>
              <a:ea typeface="Calibri"/>
              <a:cs typeface="Calibri"/>
              <a:sym typeface="Calibri"/>
            </a:endParaRPr>
          </a:p>
        </p:txBody>
      </p:sp>
      <p:sp>
        <p:nvSpPr>
          <p:cNvPr id="268" name="Google Shape;268;h1a3ff83170dc108f_1_139"/>
          <p:cNvSpPr/>
          <p:nvPr/>
        </p:nvSpPr>
        <p:spPr>
          <a:xfrm>
            <a:off x="3566160" y="5989320"/>
            <a:ext cx="274320" cy="164592"/>
          </a:xfrm>
          <a:prstGeom prst="roundRect">
            <a:avLst>
              <a:gd fmla="val 2777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h1a3ff83170dc108f_1_139"/>
          <p:cNvSpPr txBox="1"/>
          <p:nvPr/>
        </p:nvSpPr>
        <p:spPr>
          <a:xfrm>
            <a:off x="3931920" y="594360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En curso</a:t>
            </a:r>
            <a:endParaRPr b="0" i="0" sz="1200" u="none" cap="none" strike="noStrike">
              <a:solidFill>
                <a:schemeClr val="dk1"/>
              </a:solidFill>
              <a:latin typeface="Calibri"/>
              <a:ea typeface="Calibri"/>
              <a:cs typeface="Calibri"/>
              <a:sym typeface="Calibri"/>
            </a:endParaRPr>
          </a:p>
        </p:txBody>
      </p:sp>
      <p:sp>
        <p:nvSpPr>
          <p:cNvPr id="270" name="Google Shape;270;h1a3ff83170dc108f_1_139"/>
          <p:cNvSpPr/>
          <p:nvPr/>
        </p:nvSpPr>
        <p:spPr>
          <a:xfrm>
            <a:off x="4846320" y="5989320"/>
            <a:ext cx="274320" cy="164592"/>
          </a:xfrm>
          <a:prstGeom prst="roundRect">
            <a:avLst>
              <a:gd fmla="val 2777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h1a3ff83170dc108f_1_139"/>
          <p:cNvSpPr txBox="1"/>
          <p:nvPr/>
        </p:nvSpPr>
        <p:spPr>
          <a:xfrm>
            <a:off x="5212080" y="594360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Pendiente</a:t>
            </a:r>
            <a:endParaRPr b="0" i="0" sz="1200" u="none" cap="none" strike="noStrike">
              <a:solidFill>
                <a:schemeClr val="dk1"/>
              </a:solidFill>
              <a:latin typeface="Calibri"/>
              <a:ea typeface="Calibri"/>
              <a:cs typeface="Calibri"/>
              <a:sym typeface="Calibri"/>
            </a:endParaRPr>
          </a:p>
        </p:txBody>
      </p:sp>
      <p:sp>
        <p:nvSpPr>
          <p:cNvPr id="272" name="Google Shape;272;h1a3ff83170dc108f_1_139"/>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h1a3ff83170dc108f_1_243"/>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600"/>
              <a:buFont typeface="Cambria"/>
              <a:buNone/>
            </a:pPr>
            <a:r>
              <a:rPr b="1" lang="en-US" sz="3600">
                <a:solidFill>
                  <a:schemeClr val="lt1"/>
                </a:solidFill>
              </a:rPr>
              <a:t>Cómo trabajamos: Scrum y ramas en Git</a:t>
            </a:r>
            <a:endParaRPr sz="3600"/>
          </a:p>
        </p:txBody>
      </p:sp>
      <p:sp>
        <p:nvSpPr>
          <p:cNvPr id="279" name="Google Shape;279;h1a3ff83170dc108f_1_243"/>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5"/>
              </a:buClr>
              <a:buSzPts val="1600"/>
              <a:buNone/>
            </a:pPr>
            <a:r>
              <a:rPr lang="en-US" sz="1600">
                <a:solidFill>
                  <a:schemeClr val="accent5"/>
                </a:solidFill>
              </a:rPr>
              <a:t>Una rama por funcionalidad, revisión entre pares y merge a main al cerrar cada sprint.</a:t>
            </a:r>
            <a:endParaRPr sz="1600"/>
          </a:p>
        </p:txBody>
      </p:sp>
      <p:sp>
        <p:nvSpPr>
          <p:cNvPr id="280" name="Google Shape;280;h1a3ff83170dc108f_1_243"/>
          <p:cNvSpPr/>
          <p:nvPr/>
        </p:nvSpPr>
        <p:spPr>
          <a:xfrm>
            <a:off x="548640" y="173736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áctica 1" id="281" name="Google Shape;281;h1a3ff83170dc108f_1_243"/>
          <p:cNvPicPr preferRelativeResize="0"/>
          <p:nvPr/>
        </p:nvPicPr>
        <p:blipFill rotWithShape="1">
          <a:blip r:embed="rId3">
            <a:alphaModFix/>
          </a:blip>
          <a:srcRect b="0" l="0" r="0" t="0"/>
          <a:stretch/>
        </p:blipFill>
        <p:spPr>
          <a:xfrm>
            <a:off x="685800" y="1874520"/>
            <a:ext cx="274320" cy="274320"/>
          </a:xfrm>
          <a:prstGeom prst="rect">
            <a:avLst/>
          </a:prstGeom>
          <a:noFill/>
          <a:ln>
            <a:noFill/>
          </a:ln>
        </p:spPr>
      </p:pic>
      <p:sp>
        <p:nvSpPr>
          <p:cNvPr id="282" name="Google Shape;282;h1a3ff83170dc108f_1_243"/>
          <p:cNvSpPr txBox="1"/>
          <p:nvPr/>
        </p:nvSpPr>
        <p:spPr>
          <a:xfrm>
            <a:off x="1325880" y="1645920"/>
            <a:ext cx="356616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Product Backlog</a:t>
            </a:r>
            <a:endParaRPr b="0" i="0" sz="1600" u="none" cap="none" strike="noStrike">
              <a:solidFill>
                <a:schemeClr val="dk1"/>
              </a:solidFill>
              <a:latin typeface="Calibri"/>
              <a:ea typeface="Calibri"/>
              <a:cs typeface="Calibri"/>
              <a:sym typeface="Calibri"/>
            </a:endParaRPr>
          </a:p>
        </p:txBody>
      </p:sp>
      <p:sp>
        <p:nvSpPr>
          <p:cNvPr id="283" name="Google Shape;283;h1a3ff83170dc108f_1_243"/>
          <p:cNvSpPr txBox="1"/>
          <p:nvPr/>
        </p:nvSpPr>
        <p:spPr>
          <a:xfrm>
            <a:off x="1325880" y="1975104"/>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19 historias priorizadas, estimadas con Poker Planning.</a:t>
            </a:r>
            <a:endParaRPr b="0" i="0" sz="1300" u="none" cap="none" strike="noStrike">
              <a:solidFill>
                <a:schemeClr val="dk1"/>
              </a:solidFill>
              <a:latin typeface="Calibri"/>
              <a:ea typeface="Calibri"/>
              <a:cs typeface="Calibri"/>
              <a:sym typeface="Calibri"/>
            </a:endParaRPr>
          </a:p>
        </p:txBody>
      </p:sp>
      <p:sp>
        <p:nvSpPr>
          <p:cNvPr id="284" name="Google Shape;284;h1a3ff83170dc108f_1_243"/>
          <p:cNvSpPr/>
          <p:nvPr/>
        </p:nvSpPr>
        <p:spPr>
          <a:xfrm>
            <a:off x="548640" y="2761488"/>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áctica 2" id="285" name="Google Shape;285;h1a3ff83170dc108f_1_243"/>
          <p:cNvPicPr preferRelativeResize="0"/>
          <p:nvPr/>
        </p:nvPicPr>
        <p:blipFill rotWithShape="1">
          <a:blip r:embed="rId4">
            <a:alphaModFix/>
          </a:blip>
          <a:srcRect b="0" l="0" r="0" t="0"/>
          <a:stretch/>
        </p:blipFill>
        <p:spPr>
          <a:xfrm>
            <a:off x="685800" y="2898648"/>
            <a:ext cx="274320" cy="274320"/>
          </a:xfrm>
          <a:prstGeom prst="rect">
            <a:avLst/>
          </a:prstGeom>
          <a:noFill/>
          <a:ln>
            <a:noFill/>
          </a:ln>
        </p:spPr>
      </p:pic>
      <p:sp>
        <p:nvSpPr>
          <p:cNvPr id="286" name="Google Shape;286;h1a3ff83170dc108f_1_243"/>
          <p:cNvSpPr txBox="1"/>
          <p:nvPr/>
        </p:nvSpPr>
        <p:spPr>
          <a:xfrm>
            <a:off x="1325880" y="2670048"/>
            <a:ext cx="356616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Sprints de 2 semanas</a:t>
            </a:r>
            <a:endParaRPr b="0" i="0" sz="1600" u="none" cap="none" strike="noStrike">
              <a:solidFill>
                <a:schemeClr val="dk1"/>
              </a:solidFill>
              <a:latin typeface="Calibri"/>
              <a:ea typeface="Calibri"/>
              <a:cs typeface="Calibri"/>
              <a:sym typeface="Calibri"/>
            </a:endParaRPr>
          </a:p>
        </p:txBody>
      </p:sp>
      <p:sp>
        <p:nvSpPr>
          <p:cNvPr id="287" name="Google Shape;287;h1a3ff83170dc108f_1_243"/>
          <p:cNvSpPr txBox="1"/>
          <p:nvPr/>
        </p:nvSpPr>
        <p:spPr>
          <a:xfrm>
            <a:off x="1325880" y="2999232"/>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Cada integrante es dueño de sus épicas de punta a punta.</a:t>
            </a:r>
            <a:endParaRPr b="0" i="0" sz="1300" u="none" cap="none" strike="noStrike">
              <a:solidFill>
                <a:schemeClr val="dk1"/>
              </a:solidFill>
              <a:latin typeface="Calibri"/>
              <a:ea typeface="Calibri"/>
              <a:cs typeface="Calibri"/>
              <a:sym typeface="Calibri"/>
            </a:endParaRPr>
          </a:p>
        </p:txBody>
      </p:sp>
      <p:sp>
        <p:nvSpPr>
          <p:cNvPr id="288" name="Google Shape;288;h1a3ff83170dc108f_1_243"/>
          <p:cNvSpPr/>
          <p:nvPr/>
        </p:nvSpPr>
        <p:spPr>
          <a:xfrm>
            <a:off x="548640" y="3785616"/>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áctica 3" id="289" name="Google Shape;289;h1a3ff83170dc108f_1_243"/>
          <p:cNvPicPr preferRelativeResize="0"/>
          <p:nvPr/>
        </p:nvPicPr>
        <p:blipFill rotWithShape="1">
          <a:blip r:embed="rId5">
            <a:alphaModFix/>
          </a:blip>
          <a:srcRect b="0" l="0" r="0" t="0"/>
          <a:stretch/>
        </p:blipFill>
        <p:spPr>
          <a:xfrm>
            <a:off x="685800" y="3922776"/>
            <a:ext cx="274320" cy="274320"/>
          </a:xfrm>
          <a:prstGeom prst="rect">
            <a:avLst/>
          </a:prstGeom>
          <a:noFill/>
          <a:ln>
            <a:noFill/>
          </a:ln>
        </p:spPr>
      </p:pic>
      <p:sp>
        <p:nvSpPr>
          <p:cNvPr id="290" name="Google Shape;290;h1a3ff83170dc108f_1_243"/>
          <p:cNvSpPr txBox="1"/>
          <p:nvPr/>
        </p:nvSpPr>
        <p:spPr>
          <a:xfrm>
            <a:off x="1325880" y="3694176"/>
            <a:ext cx="356616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Definition of Done</a:t>
            </a:r>
            <a:endParaRPr b="0" i="0" sz="1600" u="none" cap="none" strike="noStrike">
              <a:solidFill>
                <a:schemeClr val="dk1"/>
              </a:solidFill>
              <a:latin typeface="Calibri"/>
              <a:ea typeface="Calibri"/>
              <a:cs typeface="Calibri"/>
              <a:sym typeface="Calibri"/>
            </a:endParaRPr>
          </a:p>
        </p:txBody>
      </p:sp>
      <p:sp>
        <p:nvSpPr>
          <p:cNvPr id="291" name="Google Shape;291;h1a3ff83170dc108f_1_243"/>
          <p:cNvSpPr txBox="1"/>
          <p:nvPr/>
        </p:nvSpPr>
        <p:spPr>
          <a:xfrm>
            <a:off x="1325880" y="4023360"/>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Código en GitHub con pull request revisado por otro integrante y pruebas aprobadas.</a:t>
            </a:r>
            <a:endParaRPr b="0" i="0" sz="1300" u="none" cap="none" strike="noStrike">
              <a:solidFill>
                <a:schemeClr val="dk1"/>
              </a:solidFill>
              <a:latin typeface="Calibri"/>
              <a:ea typeface="Calibri"/>
              <a:cs typeface="Calibri"/>
              <a:sym typeface="Calibri"/>
            </a:endParaRPr>
          </a:p>
        </p:txBody>
      </p:sp>
      <p:sp>
        <p:nvSpPr>
          <p:cNvPr id="292" name="Google Shape;292;h1a3ff83170dc108f_1_243"/>
          <p:cNvSpPr/>
          <p:nvPr/>
        </p:nvSpPr>
        <p:spPr>
          <a:xfrm>
            <a:off x="548640" y="4809744"/>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áctica 4" id="293" name="Google Shape;293;h1a3ff83170dc108f_1_243"/>
          <p:cNvPicPr preferRelativeResize="0"/>
          <p:nvPr/>
        </p:nvPicPr>
        <p:blipFill rotWithShape="1">
          <a:blip r:embed="rId6">
            <a:alphaModFix/>
          </a:blip>
          <a:srcRect b="0" l="0" r="0" t="0"/>
          <a:stretch/>
        </p:blipFill>
        <p:spPr>
          <a:xfrm>
            <a:off x="685800" y="4946904"/>
            <a:ext cx="274320" cy="274320"/>
          </a:xfrm>
          <a:prstGeom prst="rect">
            <a:avLst/>
          </a:prstGeom>
          <a:noFill/>
          <a:ln>
            <a:noFill/>
          </a:ln>
        </p:spPr>
      </p:pic>
      <p:sp>
        <p:nvSpPr>
          <p:cNvPr id="294" name="Google Shape;294;h1a3ff83170dc108f_1_243"/>
          <p:cNvSpPr txBox="1"/>
          <p:nvPr/>
        </p:nvSpPr>
        <p:spPr>
          <a:xfrm>
            <a:off x="1325880" y="4718304"/>
            <a:ext cx="356616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Revisión y ajuste</a:t>
            </a:r>
            <a:endParaRPr b="0" i="0" sz="1600" u="none" cap="none" strike="noStrike">
              <a:solidFill>
                <a:schemeClr val="dk1"/>
              </a:solidFill>
              <a:latin typeface="Calibri"/>
              <a:ea typeface="Calibri"/>
              <a:cs typeface="Calibri"/>
              <a:sym typeface="Calibri"/>
            </a:endParaRPr>
          </a:p>
        </p:txBody>
      </p:sp>
      <p:sp>
        <p:nvSpPr>
          <p:cNvPr id="295" name="Google Shape;295;h1a3ff83170dc108f_1_243"/>
          <p:cNvSpPr txBox="1"/>
          <p:nvPr/>
        </p:nvSpPr>
        <p:spPr>
          <a:xfrm>
            <a:off x="1325880" y="5047488"/>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Al cierre del sprint se prueba, se documenta y se ajusta el backlog.</a:t>
            </a:r>
            <a:endParaRPr b="0" i="0" sz="1300" u="none" cap="none" strike="noStrike">
              <a:solidFill>
                <a:schemeClr val="dk1"/>
              </a:solidFill>
              <a:latin typeface="Calibri"/>
              <a:ea typeface="Calibri"/>
              <a:cs typeface="Calibri"/>
              <a:sym typeface="Calibri"/>
            </a:endParaRPr>
          </a:p>
        </p:txBody>
      </p:sp>
      <p:sp>
        <p:nvSpPr>
          <p:cNvPr id="296" name="Google Shape;296;h1a3ff83170dc108f_1_243"/>
          <p:cNvSpPr/>
          <p:nvPr/>
        </p:nvSpPr>
        <p:spPr>
          <a:xfrm>
            <a:off x="5257800" y="1645920"/>
            <a:ext cx="6382512" cy="3977640"/>
          </a:xfrm>
          <a:prstGeom prst="roundRect">
            <a:avLst>
              <a:gd fmla="val 2759" name="adj"/>
            </a:avLst>
          </a:prstGeom>
          <a:solidFill>
            <a:schemeClr val="accent1">
              <a:alpha val="1803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h1a3ff83170dc108f_1_243"/>
          <p:cNvSpPr txBox="1"/>
          <p:nvPr/>
        </p:nvSpPr>
        <p:spPr>
          <a:xfrm>
            <a:off x="5440680" y="2103120"/>
            <a:ext cx="1508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main</a:t>
            </a:r>
            <a:endParaRPr b="0" i="0" sz="1300" u="none" cap="none" strike="noStrike">
              <a:solidFill>
                <a:schemeClr val="dk1"/>
              </a:solidFill>
              <a:latin typeface="Calibri"/>
              <a:ea typeface="Calibri"/>
              <a:cs typeface="Calibri"/>
              <a:sym typeface="Calibri"/>
            </a:endParaRPr>
          </a:p>
        </p:txBody>
      </p:sp>
      <p:sp>
        <p:nvSpPr>
          <p:cNvPr id="298" name="Google Shape;298;h1a3ff83170dc108f_1_243"/>
          <p:cNvSpPr txBox="1"/>
          <p:nvPr/>
        </p:nvSpPr>
        <p:spPr>
          <a:xfrm>
            <a:off x="5440680" y="2971800"/>
            <a:ext cx="1508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dev</a:t>
            </a:r>
            <a:endParaRPr b="0" i="0" sz="1300" u="none" cap="none" strike="noStrike">
              <a:solidFill>
                <a:schemeClr val="dk1"/>
              </a:solidFill>
              <a:latin typeface="Calibri"/>
              <a:ea typeface="Calibri"/>
              <a:cs typeface="Calibri"/>
              <a:sym typeface="Calibri"/>
            </a:endParaRPr>
          </a:p>
        </p:txBody>
      </p:sp>
      <p:sp>
        <p:nvSpPr>
          <p:cNvPr id="299" name="Google Shape;299;h1a3ff83170dc108f_1_243"/>
          <p:cNvSpPr txBox="1"/>
          <p:nvPr/>
        </p:nvSpPr>
        <p:spPr>
          <a:xfrm>
            <a:off x="5440680" y="3794760"/>
            <a:ext cx="1508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feature/chat</a:t>
            </a:r>
            <a:endParaRPr b="0" i="0" sz="1300" u="none" cap="none" strike="noStrike">
              <a:solidFill>
                <a:schemeClr val="dk1"/>
              </a:solidFill>
              <a:latin typeface="Calibri"/>
              <a:ea typeface="Calibri"/>
              <a:cs typeface="Calibri"/>
              <a:sym typeface="Calibri"/>
            </a:endParaRPr>
          </a:p>
        </p:txBody>
      </p:sp>
      <p:sp>
        <p:nvSpPr>
          <p:cNvPr id="300" name="Google Shape;300;h1a3ff83170dc108f_1_243"/>
          <p:cNvSpPr txBox="1"/>
          <p:nvPr/>
        </p:nvSpPr>
        <p:spPr>
          <a:xfrm>
            <a:off x="5440680" y="4297680"/>
            <a:ext cx="1508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fix / hotfix</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4"/>
              </a:buClr>
              <a:buSzPts val="1100"/>
              <a:buFont typeface="Calibri"/>
              <a:buNone/>
            </a:pPr>
            <a:r>
              <a:rPr b="0" i="0" lang="en-US" sz="1100" u="none" cap="none" strike="noStrike">
                <a:solidFill>
                  <a:schemeClr val="accent4"/>
                </a:solidFill>
                <a:latin typeface="Calibri"/>
                <a:ea typeface="Calibri"/>
                <a:cs typeface="Calibri"/>
                <a:sym typeface="Calibri"/>
              </a:rPr>
              <a:t>si hay conflicto</a:t>
            </a:r>
            <a:endParaRPr b="0" i="0" sz="1300" u="none" cap="none" strike="noStrike">
              <a:solidFill>
                <a:schemeClr val="dk1"/>
              </a:solidFill>
              <a:latin typeface="Calibri"/>
              <a:ea typeface="Calibri"/>
              <a:cs typeface="Calibri"/>
              <a:sym typeface="Calibri"/>
            </a:endParaRPr>
          </a:p>
        </p:txBody>
      </p:sp>
      <p:sp>
        <p:nvSpPr>
          <p:cNvPr id="301" name="Google Shape;301;h1a3ff83170dc108f_1_243"/>
          <p:cNvSpPr txBox="1"/>
          <p:nvPr/>
        </p:nvSpPr>
        <p:spPr>
          <a:xfrm>
            <a:off x="5440680" y="4983480"/>
            <a:ext cx="1508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feature/monitoreo</a:t>
            </a:r>
            <a:endParaRPr b="0" i="0" sz="1300" u="none" cap="none" strike="noStrike">
              <a:solidFill>
                <a:schemeClr val="dk1"/>
              </a:solidFill>
              <a:latin typeface="Calibri"/>
              <a:ea typeface="Calibri"/>
              <a:cs typeface="Calibri"/>
              <a:sym typeface="Calibri"/>
            </a:endParaRPr>
          </a:p>
        </p:txBody>
      </p:sp>
      <p:cxnSp>
        <p:nvCxnSpPr>
          <p:cNvPr id="302" name="Google Shape;302;h1a3ff83170dc108f_1_243"/>
          <p:cNvCxnSpPr/>
          <p:nvPr/>
        </p:nvCxnSpPr>
        <p:spPr>
          <a:xfrm>
            <a:off x="6995160" y="2240280"/>
            <a:ext cx="4434840" cy="0"/>
          </a:xfrm>
          <a:prstGeom prst="straightConnector1">
            <a:avLst/>
          </a:prstGeom>
          <a:noFill/>
          <a:ln cap="flat" cmpd="sng" w="38100">
            <a:solidFill>
              <a:srgbClr val="FFFFFF"/>
            </a:solidFill>
            <a:prstDash val="solid"/>
            <a:round/>
            <a:headEnd len="sm" w="sm" type="none"/>
            <a:tailEnd len="sm" w="sm" type="none"/>
          </a:ln>
        </p:spPr>
      </p:cxnSp>
      <p:cxnSp>
        <p:nvCxnSpPr>
          <p:cNvPr id="303" name="Google Shape;303;h1a3ff83170dc108f_1_243"/>
          <p:cNvCxnSpPr/>
          <p:nvPr/>
        </p:nvCxnSpPr>
        <p:spPr>
          <a:xfrm>
            <a:off x="6995160" y="3108960"/>
            <a:ext cx="4434840" cy="0"/>
          </a:xfrm>
          <a:prstGeom prst="straightConnector1">
            <a:avLst/>
          </a:prstGeom>
          <a:noFill/>
          <a:ln cap="flat" cmpd="sng" w="38100">
            <a:solidFill>
              <a:srgbClr val="02C39A"/>
            </a:solidFill>
            <a:prstDash val="solid"/>
            <a:round/>
            <a:headEnd len="sm" w="sm" type="none"/>
            <a:tailEnd len="sm" w="sm" type="none"/>
          </a:ln>
        </p:spPr>
      </p:cxnSp>
      <p:cxnSp>
        <p:nvCxnSpPr>
          <p:cNvPr id="304" name="Google Shape;304;h1a3ff83170dc108f_1_243"/>
          <p:cNvCxnSpPr/>
          <p:nvPr/>
        </p:nvCxnSpPr>
        <p:spPr>
          <a:xfrm>
            <a:off x="7132320" y="3931920"/>
            <a:ext cx="1143000" cy="0"/>
          </a:xfrm>
          <a:prstGeom prst="straightConnector1">
            <a:avLst/>
          </a:prstGeom>
          <a:noFill/>
          <a:ln cap="flat" cmpd="sng" w="38100">
            <a:solidFill>
              <a:srgbClr val="9DB8BA"/>
            </a:solidFill>
            <a:prstDash val="solid"/>
            <a:round/>
            <a:headEnd len="sm" w="sm" type="none"/>
            <a:tailEnd len="sm" w="sm" type="none"/>
          </a:ln>
        </p:spPr>
      </p:cxnSp>
      <p:cxnSp>
        <p:nvCxnSpPr>
          <p:cNvPr id="305" name="Google Shape;305;h1a3ff83170dc108f_1_243"/>
          <p:cNvCxnSpPr/>
          <p:nvPr/>
        </p:nvCxnSpPr>
        <p:spPr>
          <a:xfrm>
            <a:off x="8503920" y="4526280"/>
            <a:ext cx="1051560" cy="0"/>
          </a:xfrm>
          <a:prstGeom prst="straightConnector1">
            <a:avLst/>
          </a:prstGeom>
          <a:noFill/>
          <a:ln cap="flat" cmpd="sng" w="38100">
            <a:solidFill>
              <a:srgbClr val="D9A441"/>
            </a:solidFill>
            <a:prstDash val="solid"/>
            <a:round/>
            <a:headEnd len="sm" w="sm" type="none"/>
            <a:tailEnd len="sm" w="sm" type="none"/>
          </a:ln>
        </p:spPr>
      </p:cxnSp>
      <p:cxnSp>
        <p:nvCxnSpPr>
          <p:cNvPr id="306" name="Google Shape;306;h1a3ff83170dc108f_1_243"/>
          <p:cNvCxnSpPr/>
          <p:nvPr/>
        </p:nvCxnSpPr>
        <p:spPr>
          <a:xfrm>
            <a:off x="9601200" y="5120640"/>
            <a:ext cx="1051560" cy="0"/>
          </a:xfrm>
          <a:prstGeom prst="straightConnector1">
            <a:avLst/>
          </a:prstGeom>
          <a:noFill/>
          <a:ln cap="flat" cmpd="sng" w="38100">
            <a:solidFill>
              <a:srgbClr val="9DB8BA"/>
            </a:solidFill>
            <a:prstDash val="solid"/>
            <a:round/>
            <a:headEnd len="sm" w="sm" type="none"/>
            <a:tailEnd len="sm" w="sm" type="none"/>
          </a:ln>
        </p:spPr>
      </p:cxnSp>
      <p:cxnSp>
        <p:nvCxnSpPr>
          <p:cNvPr id="307" name="Google Shape;307;h1a3ff83170dc108f_1_243"/>
          <p:cNvCxnSpPr/>
          <p:nvPr/>
        </p:nvCxnSpPr>
        <p:spPr>
          <a:xfrm>
            <a:off x="8275320" y="3108960"/>
            <a:ext cx="0" cy="822960"/>
          </a:xfrm>
          <a:prstGeom prst="straightConnector1">
            <a:avLst/>
          </a:prstGeom>
          <a:noFill/>
          <a:ln cap="flat" cmpd="sng" w="25400">
            <a:solidFill>
              <a:srgbClr val="9DB8BA"/>
            </a:solidFill>
            <a:prstDash val="solid"/>
            <a:round/>
            <a:headEnd len="med" w="med" type="triangle"/>
            <a:tailEnd len="sm" w="sm" type="none"/>
          </a:ln>
        </p:spPr>
      </p:cxnSp>
      <p:cxnSp>
        <p:nvCxnSpPr>
          <p:cNvPr id="308" name="Google Shape;308;h1a3ff83170dc108f_1_243"/>
          <p:cNvCxnSpPr/>
          <p:nvPr/>
        </p:nvCxnSpPr>
        <p:spPr>
          <a:xfrm>
            <a:off x="9555480" y="3108960"/>
            <a:ext cx="0" cy="1417320"/>
          </a:xfrm>
          <a:prstGeom prst="straightConnector1">
            <a:avLst/>
          </a:prstGeom>
          <a:noFill/>
          <a:ln cap="flat" cmpd="sng" w="25400">
            <a:solidFill>
              <a:srgbClr val="D9A441"/>
            </a:solidFill>
            <a:prstDash val="solid"/>
            <a:round/>
            <a:headEnd len="med" w="med" type="triangle"/>
            <a:tailEnd len="sm" w="sm" type="none"/>
          </a:ln>
        </p:spPr>
      </p:cxnSp>
      <p:cxnSp>
        <p:nvCxnSpPr>
          <p:cNvPr id="309" name="Google Shape;309;h1a3ff83170dc108f_1_243"/>
          <p:cNvCxnSpPr/>
          <p:nvPr/>
        </p:nvCxnSpPr>
        <p:spPr>
          <a:xfrm>
            <a:off x="10652760" y="3108960"/>
            <a:ext cx="0" cy="2011680"/>
          </a:xfrm>
          <a:prstGeom prst="straightConnector1">
            <a:avLst/>
          </a:prstGeom>
          <a:noFill/>
          <a:ln cap="flat" cmpd="sng" w="25400">
            <a:solidFill>
              <a:srgbClr val="9DB8BA"/>
            </a:solidFill>
            <a:prstDash val="solid"/>
            <a:round/>
            <a:headEnd len="med" w="med" type="triangle"/>
            <a:tailEnd len="sm" w="sm" type="none"/>
          </a:ln>
        </p:spPr>
      </p:cxnSp>
      <p:cxnSp>
        <p:nvCxnSpPr>
          <p:cNvPr id="310" name="Google Shape;310;h1a3ff83170dc108f_1_243"/>
          <p:cNvCxnSpPr/>
          <p:nvPr/>
        </p:nvCxnSpPr>
        <p:spPr>
          <a:xfrm>
            <a:off x="11292840" y="2240280"/>
            <a:ext cx="0" cy="868680"/>
          </a:xfrm>
          <a:prstGeom prst="straightConnector1">
            <a:avLst/>
          </a:prstGeom>
          <a:noFill/>
          <a:ln cap="flat" cmpd="sng" w="25400">
            <a:solidFill>
              <a:srgbClr val="FFFFFF"/>
            </a:solidFill>
            <a:prstDash val="solid"/>
            <a:round/>
            <a:headEnd len="med" w="med" type="triangle"/>
            <a:tailEnd len="sm" w="sm" type="none"/>
          </a:ln>
        </p:spPr>
      </p:cxnSp>
      <p:sp>
        <p:nvSpPr>
          <p:cNvPr id="311" name="Google Shape;311;h1a3ff83170dc108f_1_243"/>
          <p:cNvSpPr/>
          <p:nvPr/>
        </p:nvSpPr>
        <p:spPr>
          <a:xfrm>
            <a:off x="6894576" y="2139696"/>
            <a:ext cx="201168" cy="20116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h1a3ff83170dc108f_1_243"/>
          <p:cNvSpPr/>
          <p:nvPr/>
        </p:nvSpPr>
        <p:spPr>
          <a:xfrm>
            <a:off x="11192256" y="2139696"/>
            <a:ext cx="201168" cy="20116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h1a3ff83170dc108f_1_243"/>
          <p:cNvSpPr/>
          <p:nvPr/>
        </p:nvSpPr>
        <p:spPr>
          <a:xfrm>
            <a:off x="6894576" y="3008376"/>
            <a:ext cx="201168" cy="201168"/>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h1a3ff83170dc108f_1_243"/>
          <p:cNvSpPr/>
          <p:nvPr/>
        </p:nvSpPr>
        <p:spPr>
          <a:xfrm>
            <a:off x="8174736" y="3008376"/>
            <a:ext cx="201168" cy="201168"/>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h1a3ff83170dc108f_1_243"/>
          <p:cNvSpPr/>
          <p:nvPr/>
        </p:nvSpPr>
        <p:spPr>
          <a:xfrm>
            <a:off x="9454896" y="3008376"/>
            <a:ext cx="201168" cy="201168"/>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h1a3ff83170dc108f_1_243"/>
          <p:cNvSpPr/>
          <p:nvPr/>
        </p:nvSpPr>
        <p:spPr>
          <a:xfrm>
            <a:off x="10552176" y="3008376"/>
            <a:ext cx="201168" cy="201168"/>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h1a3ff83170dc108f_1_243"/>
          <p:cNvSpPr/>
          <p:nvPr/>
        </p:nvSpPr>
        <p:spPr>
          <a:xfrm>
            <a:off x="7031736" y="3831336"/>
            <a:ext cx="201168" cy="201168"/>
          </a:xfrm>
          <a:prstGeom prst="ellipse">
            <a:avLst/>
          </a:prstGeom>
          <a:solidFill>
            <a:srgbClr val="9DB8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h1a3ff83170dc108f_1_243"/>
          <p:cNvSpPr/>
          <p:nvPr/>
        </p:nvSpPr>
        <p:spPr>
          <a:xfrm>
            <a:off x="8403336" y="4425696"/>
            <a:ext cx="201168" cy="201168"/>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h1a3ff83170dc108f_1_243"/>
          <p:cNvSpPr/>
          <p:nvPr/>
        </p:nvSpPr>
        <p:spPr>
          <a:xfrm>
            <a:off x="9500616" y="5020056"/>
            <a:ext cx="201168" cy="201168"/>
          </a:xfrm>
          <a:prstGeom prst="ellipse">
            <a:avLst/>
          </a:prstGeom>
          <a:solidFill>
            <a:srgbClr val="9DB8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h1a3ff83170dc108f_1_243"/>
          <p:cNvSpPr txBox="1"/>
          <p:nvPr/>
        </p:nvSpPr>
        <p:spPr>
          <a:xfrm>
            <a:off x="6720840" y="3310128"/>
            <a:ext cx="1508760" cy="25603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Pull request a dev</a:t>
            </a:r>
            <a:endParaRPr b="0" i="0" sz="1200" u="none" cap="none" strike="noStrike">
              <a:solidFill>
                <a:schemeClr val="dk1"/>
              </a:solidFill>
              <a:latin typeface="Calibri"/>
              <a:ea typeface="Calibri"/>
              <a:cs typeface="Calibri"/>
              <a:sym typeface="Calibri"/>
            </a:endParaRPr>
          </a:p>
        </p:txBody>
      </p:sp>
      <p:sp>
        <p:nvSpPr>
          <p:cNvPr id="321" name="Google Shape;321;h1a3ff83170dc108f_1_243"/>
          <p:cNvSpPr txBox="1"/>
          <p:nvPr/>
        </p:nvSpPr>
        <p:spPr>
          <a:xfrm>
            <a:off x="8595360" y="2395728"/>
            <a:ext cx="2606040" cy="25603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Merge a main al cerrar el sprint</a:t>
            </a:r>
            <a:endParaRPr b="0" i="0" sz="1200" u="none" cap="none" strike="noStrike">
              <a:solidFill>
                <a:schemeClr val="dk1"/>
              </a:solidFill>
              <a:latin typeface="Calibri"/>
              <a:ea typeface="Calibri"/>
              <a:cs typeface="Calibri"/>
              <a:sym typeface="Calibri"/>
            </a:endParaRPr>
          </a:p>
        </p:txBody>
      </p:sp>
      <p:sp>
        <p:nvSpPr>
          <p:cNvPr id="322" name="Google Shape;322;h1a3ff83170dc108f_1_243"/>
          <p:cNvSpPr/>
          <p:nvPr/>
        </p:nvSpPr>
        <p:spPr>
          <a:xfrm>
            <a:off x="548640" y="5806440"/>
            <a:ext cx="11091672" cy="457200"/>
          </a:xfrm>
          <a:prstGeom prst="roundRect">
            <a:avLst>
              <a:gd fmla="val 20000" name="adj"/>
            </a:avLst>
          </a:prstGeom>
          <a:solidFill>
            <a:schemeClr val="accent1">
              <a:alpha val="1803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h1a3ff83170dc108f_1_243"/>
          <p:cNvSpPr txBox="1"/>
          <p:nvPr/>
        </p:nvSpPr>
        <p:spPr>
          <a:xfrm>
            <a:off x="777240" y="5806440"/>
            <a:ext cx="10652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Regla de equipo: se avisa por el grupo al empezar a trabajar en una rama y al hacer un pull, para mantener todos los repositorios sincronizados.</a:t>
            </a:r>
            <a:endParaRPr b="0" i="0" sz="1400" u="none" cap="none" strike="noStrike">
              <a:solidFill>
                <a:schemeClr val="dk1"/>
              </a:solidFill>
              <a:latin typeface="Calibri"/>
              <a:ea typeface="Calibri"/>
              <a:cs typeface="Calibri"/>
              <a:sym typeface="Calibri"/>
            </a:endParaRPr>
          </a:p>
        </p:txBody>
      </p:sp>
      <p:sp>
        <p:nvSpPr>
          <p:cNvPr id="324" name="Google Shape;324;h1a3ff83170dc108f_1_243"/>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5"/>
                </a:solidFill>
                <a:latin typeface="Calibri"/>
                <a:ea typeface="Calibri"/>
                <a:cs typeface="Calibri"/>
                <a:sym typeface="Calibri"/>
              </a:rPr>
              <a:t>‹#›</a:t>
            </a:fld>
            <a:endParaRPr b="0" i="0" sz="1100" u="none" cap="none" strike="noStrike">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h1a3ff83170dc108f_1_294"/>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Avance al cierre de la semana 9</a:t>
            </a:r>
            <a:endParaRPr sz="3600"/>
          </a:p>
        </p:txBody>
      </p:sp>
      <p:sp>
        <p:nvSpPr>
          <p:cNvPr id="331" name="Google Shape;331;h1a3ff83170dc108f_1_294"/>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Autenticación y roles completada; el monitoreo avanza sobre OPNsense y un proveedor simulado.</a:t>
            </a:r>
            <a:endParaRPr sz="1600"/>
          </a:p>
        </p:txBody>
      </p:sp>
      <p:pic>
        <p:nvPicPr>
          <p:cNvPr id="332" name="Google Shape;332;h1a3ff83170dc108f_1_294"/>
          <p:cNvPicPr preferRelativeResize="0"/>
          <p:nvPr/>
        </p:nvPicPr>
        <p:blipFill rotWithShape="1">
          <a:blip r:embed="rId3">
            <a:alphaModFix/>
          </a:blip>
          <a:srcRect b="0" l="0" r="0" t="0"/>
          <a:stretch/>
        </p:blipFill>
        <p:spPr>
          <a:xfrm>
            <a:off x="548640" y="1600200"/>
            <a:ext cx="6675120" cy="3429000"/>
          </a:xfrm>
          <a:prstGeom prst="rect">
            <a:avLst/>
          </a:prstGeom>
          <a:noFill/>
          <a:ln>
            <a:noFill/>
          </a:ln>
        </p:spPr>
      </p:pic>
      <p:sp>
        <p:nvSpPr>
          <p:cNvPr id="333" name="Google Shape;333;h1a3ff83170dc108f_1_294"/>
          <p:cNvSpPr txBox="1"/>
          <p:nvPr/>
        </p:nvSpPr>
        <p:spPr>
          <a:xfrm>
            <a:off x="548640" y="5074920"/>
            <a:ext cx="6675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En curso: monitoreo OPNsense (backend y simulado) y dashboard (prototipo). Falta integrar UniFi.</a:t>
            </a:r>
            <a:endParaRPr b="0" i="0" sz="1200" u="none" cap="none" strike="noStrike">
              <a:solidFill>
                <a:schemeClr val="dk1"/>
              </a:solidFill>
              <a:latin typeface="Calibri"/>
              <a:ea typeface="Calibri"/>
              <a:cs typeface="Calibri"/>
              <a:sym typeface="Calibri"/>
            </a:endParaRPr>
          </a:p>
        </p:txBody>
      </p:sp>
      <p:sp>
        <p:nvSpPr>
          <p:cNvPr id="334" name="Google Shape;334;h1a3ff83170dc108f_1_294"/>
          <p:cNvSpPr/>
          <p:nvPr/>
        </p:nvSpPr>
        <p:spPr>
          <a:xfrm>
            <a:off x="7498080" y="1645920"/>
            <a:ext cx="4142232" cy="1024128"/>
          </a:xfrm>
          <a:prstGeom prst="roundRect">
            <a:avLst>
              <a:gd fmla="val 10714"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h1a3ff83170dc108f_1_294"/>
          <p:cNvSpPr txBox="1"/>
          <p:nvPr/>
        </p:nvSpPr>
        <p:spPr>
          <a:xfrm>
            <a:off x="7680960" y="1737360"/>
            <a:ext cx="14173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13/121</a:t>
            </a:r>
            <a:endParaRPr b="0" i="0" sz="2800" u="none" cap="none" strike="noStrike">
              <a:solidFill>
                <a:schemeClr val="dk1"/>
              </a:solidFill>
              <a:latin typeface="Calibri"/>
              <a:ea typeface="Calibri"/>
              <a:cs typeface="Calibri"/>
              <a:sym typeface="Calibri"/>
            </a:endParaRPr>
          </a:p>
        </p:txBody>
      </p:sp>
      <p:sp>
        <p:nvSpPr>
          <p:cNvPr id="336" name="Google Shape;336;h1a3ff83170dc108f_1_294"/>
          <p:cNvSpPr txBox="1"/>
          <p:nvPr/>
        </p:nvSpPr>
        <p:spPr>
          <a:xfrm>
            <a:off x="9144000" y="1737360"/>
            <a:ext cx="2331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puntos completados (11%): Épica 001 de punta a punta</a:t>
            </a:r>
            <a:endParaRPr b="0" i="0" sz="1300" u="none" cap="none" strike="noStrike">
              <a:solidFill>
                <a:schemeClr val="dk1"/>
              </a:solidFill>
              <a:latin typeface="Calibri"/>
              <a:ea typeface="Calibri"/>
              <a:cs typeface="Calibri"/>
              <a:sym typeface="Calibri"/>
            </a:endParaRPr>
          </a:p>
        </p:txBody>
      </p:sp>
      <p:sp>
        <p:nvSpPr>
          <p:cNvPr id="337" name="Google Shape;337;h1a3ff83170dc108f_1_294"/>
          <p:cNvSpPr/>
          <p:nvPr/>
        </p:nvSpPr>
        <p:spPr>
          <a:xfrm>
            <a:off x="7498080" y="2834640"/>
            <a:ext cx="4142232" cy="1024128"/>
          </a:xfrm>
          <a:prstGeom prst="roundRect">
            <a:avLst>
              <a:gd fmla="val 10714"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h1a3ff83170dc108f_1_294"/>
          <p:cNvSpPr txBox="1"/>
          <p:nvPr/>
        </p:nvSpPr>
        <p:spPr>
          <a:xfrm>
            <a:off x="7680960" y="2926080"/>
            <a:ext cx="14173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101</a:t>
            </a:r>
            <a:endParaRPr b="0" i="0" sz="2800" u="none" cap="none" strike="noStrike">
              <a:solidFill>
                <a:schemeClr val="dk1"/>
              </a:solidFill>
              <a:latin typeface="Calibri"/>
              <a:ea typeface="Calibri"/>
              <a:cs typeface="Calibri"/>
              <a:sym typeface="Calibri"/>
            </a:endParaRPr>
          </a:p>
        </p:txBody>
      </p:sp>
      <p:sp>
        <p:nvSpPr>
          <p:cNvPr id="339" name="Google Shape;339;h1a3ff83170dc108f_1_294"/>
          <p:cNvSpPr txBox="1"/>
          <p:nvPr/>
        </p:nvSpPr>
        <p:spPr>
          <a:xfrm>
            <a:off x="9144000" y="2926080"/>
            <a:ext cx="2331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pruebas automatizadas aprobadas (auth, roles, monitoreo)</a:t>
            </a:r>
            <a:endParaRPr b="0" i="0" sz="1300" u="none" cap="none" strike="noStrike">
              <a:solidFill>
                <a:schemeClr val="dk1"/>
              </a:solidFill>
              <a:latin typeface="Calibri"/>
              <a:ea typeface="Calibri"/>
              <a:cs typeface="Calibri"/>
              <a:sym typeface="Calibri"/>
            </a:endParaRPr>
          </a:p>
        </p:txBody>
      </p:sp>
      <p:sp>
        <p:nvSpPr>
          <p:cNvPr id="340" name="Google Shape;340;h1a3ff83170dc108f_1_294"/>
          <p:cNvSpPr/>
          <p:nvPr/>
        </p:nvSpPr>
        <p:spPr>
          <a:xfrm>
            <a:off x="7498080" y="4023360"/>
            <a:ext cx="4142232" cy="1024128"/>
          </a:xfrm>
          <a:prstGeom prst="roundRect">
            <a:avLst>
              <a:gd fmla="val 10714" name="adj"/>
            </a:avLst>
          </a:prstGeom>
          <a:solidFill>
            <a:schemeClr val="l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h1a3ff83170dc108f_1_294"/>
          <p:cNvSpPr txBox="1"/>
          <p:nvPr/>
        </p:nvSpPr>
        <p:spPr>
          <a:xfrm>
            <a:off x="7680960" y="4114800"/>
            <a:ext cx="14173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5</a:t>
            </a:r>
            <a:endParaRPr b="0" i="0" sz="2800" u="none" cap="none" strike="noStrike">
              <a:solidFill>
                <a:schemeClr val="dk1"/>
              </a:solidFill>
              <a:latin typeface="Calibri"/>
              <a:ea typeface="Calibri"/>
              <a:cs typeface="Calibri"/>
              <a:sym typeface="Calibri"/>
            </a:endParaRPr>
          </a:p>
        </p:txBody>
      </p:sp>
      <p:sp>
        <p:nvSpPr>
          <p:cNvPr id="342" name="Google Shape;342;h1a3ff83170dc108f_1_294"/>
          <p:cNvSpPr txBox="1"/>
          <p:nvPr/>
        </p:nvSpPr>
        <p:spPr>
          <a:xfrm>
            <a:off x="9144000" y="4114800"/>
            <a:ext cx="2331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endpoints de monitoreo y login conectado al frontend</a:t>
            </a:r>
            <a:endParaRPr b="0" i="0" sz="1300" u="none" cap="none" strike="noStrike">
              <a:solidFill>
                <a:schemeClr val="dk1"/>
              </a:solidFill>
              <a:latin typeface="Calibri"/>
              <a:ea typeface="Calibri"/>
              <a:cs typeface="Calibri"/>
              <a:sym typeface="Calibri"/>
            </a:endParaRPr>
          </a:p>
        </p:txBody>
      </p:sp>
      <p:sp>
        <p:nvSpPr>
          <p:cNvPr id="343" name="Google Shape;343;h1a3ff83170dc108f_1_294"/>
          <p:cNvSpPr/>
          <p:nvPr/>
        </p:nvSpPr>
        <p:spPr>
          <a:xfrm>
            <a:off x="548640" y="5440680"/>
            <a:ext cx="2651760" cy="822960"/>
          </a:xfrm>
          <a:prstGeom prst="roundRect">
            <a:avLst>
              <a:gd fmla="val 13333" name="adj"/>
            </a:avLst>
          </a:prstGeom>
          <a:solidFill>
            <a:schemeClr val="dk2"/>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h1a3ff83170dc108f_1_294"/>
          <p:cNvSpPr txBox="1"/>
          <p:nvPr/>
        </p:nvSpPr>
        <p:spPr>
          <a:xfrm>
            <a:off x="713232" y="5504688"/>
            <a:ext cx="233172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Sem. 10</a:t>
            </a:r>
            <a:endParaRPr b="0" i="0" sz="1200" u="none" cap="none" strike="noStrike">
              <a:solidFill>
                <a:schemeClr val="dk1"/>
              </a:solidFill>
              <a:latin typeface="Calibri"/>
              <a:ea typeface="Calibri"/>
              <a:cs typeface="Calibri"/>
              <a:sym typeface="Calibri"/>
            </a:endParaRPr>
          </a:p>
        </p:txBody>
      </p:sp>
      <p:sp>
        <p:nvSpPr>
          <p:cNvPr id="345" name="Google Shape;345;h1a3ff83170dc108f_1_294"/>
          <p:cNvSpPr txBox="1"/>
          <p:nvPr/>
        </p:nvSpPr>
        <p:spPr>
          <a:xfrm>
            <a:off x="713232" y="576072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Proteger el monitoreo con el permiso MONITORING_READ</a:t>
            </a:r>
            <a:endParaRPr b="0" i="0" sz="1200" u="none" cap="none" strike="noStrike">
              <a:solidFill>
                <a:schemeClr val="dk1"/>
              </a:solidFill>
              <a:latin typeface="Calibri"/>
              <a:ea typeface="Calibri"/>
              <a:cs typeface="Calibri"/>
              <a:sym typeface="Calibri"/>
            </a:endParaRPr>
          </a:p>
        </p:txBody>
      </p:sp>
      <p:sp>
        <p:nvSpPr>
          <p:cNvPr id="346" name="Google Shape;346;h1a3ff83170dc108f_1_294"/>
          <p:cNvSpPr/>
          <p:nvPr/>
        </p:nvSpPr>
        <p:spPr>
          <a:xfrm>
            <a:off x="3362249" y="5440680"/>
            <a:ext cx="2651760" cy="822960"/>
          </a:xfrm>
          <a:prstGeom prst="roundRect">
            <a:avLst>
              <a:gd fmla="val 13333" name="adj"/>
            </a:avLst>
          </a:prstGeom>
          <a:solidFill>
            <a:schemeClr val="dk2"/>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h1a3ff83170dc108f_1_294"/>
          <p:cNvSpPr txBox="1"/>
          <p:nvPr/>
        </p:nvSpPr>
        <p:spPr>
          <a:xfrm>
            <a:off x="3526841" y="5504688"/>
            <a:ext cx="233172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Sem. 11</a:t>
            </a:r>
            <a:endParaRPr b="0" i="0" sz="1200" u="none" cap="none" strike="noStrike">
              <a:solidFill>
                <a:schemeClr val="dk1"/>
              </a:solidFill>
              <a:latin typeface="Calibri"/>
              <a:ea typeface="Calibri"/>
              <a:cs typeface="Calibri"/>
              <a:sym typeface="Calibri"/>
            </a:endParaRPr>
          </a:p>
        </p:txBody>
      </p:sp>
      <p:sp>
        <p:nvSpPr>
          <p:cNvPr id="348" name="Google Shape;348;h1a3ff83170dc108f_1_294"/>
          <p:cNvSpPr txBox="1"/>
          <p:nvPr/>
        </p:nvSpPr>
        <p:spPr>
          <a:xfrm>
            <a:off x="3526841" y="576072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Dashboard conectado a la API de monitoreo</a:t>
            </a:r>
            <a:endParaRPr b="0" i="0" sz="1200" u="none" cap="none" strike="noStrike">
              <a:solidFill>
                <a:schemeClr val="dk1"/>
              </a:solidFill>
              <a:latin typeface="Calibri"/>
              <a:ea typeface="Calibri"/>
              <a:cs typeface="Calibri"/>
              <a:sym typeface="Calibri"/>
            </a:endParaRPr>
          </a:p>
        </p:txBody>
      </p:sp>
      <p:sp>
        <p:nvSpPr>
          <p:cNvPr id="349" name="Google Shape;349;h1a3ff83170dc108f_1_294"/>
          <p:cNvSpPr/>
          <p:nvPr/>
        </p:nvSpPr>
        <p:spPr>
          <a:xfrm>
            <a:off x="6175858" y="5440680"/>
            <a:ext cx="2651760" cy="822960"/>
          </a:xfrm>
          <a:prstGeom prst="roundRect">
            <a:avLst>
              <a:gd fmla="val 13333" name="adj"/>
            </a:avLst>
          </a:prstGeom>
          <a:solidFill>
            <a:schemeClr val="dk2"/>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h1a3ff83170dc108f_1_294"/>
          <p:cNvSpPr txBox="1"/>
          <p:nvPr/>
        </p:nvSpPr>
        <p:spPr>
          <a:xfrm>
            <a:off x="6340450" y="5504688"/>
            <a:ext cx="233172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Sem. 12</a:t>
            </a:r>
            <a:endParaRPr b="0" i="0" sz="1200" u="none" cap="none" strike="noStrike">
              <a:solidFill>
                <a:schemeClr val="dk1"/>
              </a:solidFill>
              <a:latin typeface="Calibri"/>
              <a:ea typeface="Calibri"/>
              <a:cs typeface="Calibri"/>
              <a:sym typeface="Calibri"/>
            </a:endParaRPr>
          </a:p>
        </p:txBody>
      </p:sp>
      <p:sp>
        <p:nvSpPr>
          <p:cNvPr id="351" name="Google Shape;351;h1a3ff83170dc108f_1_294"/>
          <p:cNvSpPr txBox="1"/>
          <p:nvPr/>
        </p:nvSpPr>
        <p:spPr>
          <a:xfrm>
            <a:off x="6340450" y="576072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Chat con reserva de VLAN e integración UniFi</a:t>
            </a:r>
            <a:endParaRPr b="0" i="0" sz="1200" u="none" cap="none" strike="noStrike">
              <a:solidFill>
                <a:schemeClr val="dk1"/>
              </a:solidFill>
              <a:latin typeface="Calibri"/>
              <a:ea typeface="Calibri"/>
              <a:cs typeface="Calibri"/>
              <a:sym typeface="Calibri"/>
            </a:endParaRPr>
          </a:p>
        </p:txBody>
      </p:sp>
      <p:sp>
        <p:nvSpPr>
          <p:cNvPr id="352" name="Google Shape;352;h1a3ff83170dc108f_1_294"/>
          <p:cNvSpPr/>
          <p:nvPr/>
        </p:nvSpPr>
        <p:spPr>
          <a:xfrm>
            <a:off x="8989466" y="5440680"/>
            <a:ext cx="2651760" cy="822960"/>
          </a:xfrm>
          <a:prstGeom prst="roundRect">
            <a:avLst>
              <a:gd fmla="val 13333" name="adj"/>
            </a:avLst>
          </a:prstGeom>
          <a:solidFill>
            <a:schemeClr val="dk2"/>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h1a3ff83170dc108f_1_294"/>
          <p:cNvSpPr txBox="1"/>
          <p:nvPr/>
        </p:nvSpPr>
        <p:spPr>
          <a:xfrm>
            <a:off x="9154058" y="5504688"/>
            <a:ext cx="233172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Sem. 13</a:t>
            </a:r>
            <a:endParaRPr b="0" i="0" sz="1200" u="none" cap="none" strike="noStrike">
              <a:solidFill>
                <a:schemeClr val="dk1"/>
              </a:solidFill>
              <a:latin typeface="Calibri"/>
              <a:ea typeface="Calibri"/>
              <a:cs typeface="Calibri"/>
              <a:sym typeface="Calibri"/>
            </a:endParaRPr>
          </a:p>
        </p:txBody>
      </p:sp>
      <p:sp>
        <p:nvSpPr>
          <p:cNvPr id="354" name="Google Shape;354;h1a3ff83170dc108f_1_294"/>
          <p:cNvSpPr txBox="1"/>
          <p:nvPr/>
        </p:nvSpPr>
        <p:spPr>
          <a:xfrm>
            <a:off x="9154058" y="576072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Carga CSV, tickets y agente en versión mínima</a:t>
            </a:r>
            <a:endParaRPr b="0" i="0" sz="1200" u="none" cap="none" strike="noStrike">
              <a:solidFill>
                <a:schemeClr val="dk1"/>
              </a:solidFill>
              <a:latin typeface="Calibri"/>
              <a:ea typeface="Calibri"/>
              <a:cs typeface="Calibri"/>
              <a:sym typeface="Calibri"/>
            </a:endParaRPr>
          </a:p>
        </p:txBody>
      </p:sp>
      <p:sp>
        <p:nvSpPr>
          <p:cNvPr id="355" name="Google Shape;355;h1a3ff83170dc108f_1_294"/>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h1a3ff83170dc108f_1_324"/>
          <p:cNvSpPr txBox="1"/>
          <p:nvPr>
            <p:ph type="title"/>
          </p:nvPr>
        </p:nvSpPr>
        <p:spPr>
          <a:xfrm>
            <a:off x="548640" y="365760"/>
            <a:ext cx="1109167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600"/>
              <a:buFont typeface="Cambria"/>
              <a:buNone/>
            </a:pPr>
            <a:r>
              <a:rPr b="1" lang="en-US" sz="3600">
                <a:solidFill>
                  <a:schemeClr val="lt1"/>
                </a:solidFill>
              </a:rPr>
              <a:t>Demostración en video</a:t>
            </a:r>
            <a:endParaRPr sz="3600"/>
          </a:p>
        </p:txBody>
      </p:sp>
      <p:sp>
        <p:nvSpPr>
          <p:cNvPr id="362" name="Google Shape;362;h1a3ff83170dc108f_1_324"/>
          <p:cNvSpPr txBox="1"/>
          <p:nvPr>
            <p:ph idx="1" type="body"/>
          </p:nvPr>
        </p:nvSpPr>
        <p:spPr>
          <a:xfrm>
            <a:off x="548640" y="1051560"/>
            <a:ext cx="11091672"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5"/>
              </a:buClr>
              <a:buSzPts val="1600"/>
              <a:buNone/>
            </a:pPr>
            <a:r>
              <a:rPr lang="en-US" sz="1600">
                <a:solidFill>
                  <a:schemeClr val="accent5"/>
                </a:solidFill>
              </a:rPr>
              <a:t>3 minutos · funcionalidades en ejecución</a:t>
            </a:r>
            <a:endParaRPr sz="1600"/>
          </a:p>
        </p:txBody>
      </p:sp>
      <p:sp>
        <p:nvSpPr>
          <p:cNvPr id="363" name="Google Shape;363;h1a3ff83170dc108f_1_324"/>
          <p:cNvSpPr/>
          <p:nvPr/>
        </p:nvSpPr>
        <p:spPr>
          <a:xfrm>
            <a:off x="822960" y="2103120"/>
            <a:ext cx="3108960" cy="3108960"/>
          </a:xfrm>
          <a:prstGeom prst="ellipse">
            <a:avLst/>
          </a:prstGeom>
          <a:solidFill>
            <a:schemeClr val="accent1"/>
          </a:solidFill>
          <a:ln>
            <a:noFill/>
          </a:ln>
          <a:effectLst>
            <a:outerShdw blurRad="101600" rotWithShape="0" algn="bl" dir="5400000" dist="25400">
              <a:srgbClr val="0B2E33">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eproducir video" id="364" name="Google Shape;364;h1a3ff83170dc108f_1_324"/>
          <p:cNvPicPr preferRelativeResize="0"/>
          <p:nvPr/>
        </p:nvPicPr>
        <p:blipFill rotWithShape="1">
          <a:blip r:embed="rId3">
            <a:alphaModFix/>
          </a:blip>
          <a:srcRect b="0" l="0" r="0" t="0"/>
          <a:stretch/>
        </p:blipFill>
        <p:spPr>
          <a:xfrm>
            <a:off x="1828800" y="3108960"/>
            <a:ext cx="1097280" cy="1097280"/>
          </a:xfrm>
          <a:prstGeom prst="rect">
            <a:avLst/>
          </a:prstGeom>
          <a:noFill/>
          <a:ln>
            <a:noFill/>
          </a:ln>
        </p:spPr>
      </p:pic>
      <p:sp>
        <p:nvSpPr>
          <p:cNvPr id="365" name="Google Shape;365;h1a3ff83170dc108f_1_324"/>
          <p:cNvSpPr/>
          <p:nvPr/>
        </p:nvSpPr>
        <p:spPr>
          <a:xfrm>
            <a:off x="4937760" y="1993392"/>
            <a:ext cx="457200" cy="457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h1a3ff83170dc108f_1_324"/>
          <p:cNvSpPr txBox="1"/>
          <p:nvPr/>
        </p:nvSpPr>
        <p:spPr>
          <a:xfrm>
            <a:off x="4937760" y="19933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67" name="Google Shape;367;h1a3ff83170dc108f_1_324"/>
          <p:cNvSpPr txBox="1"/>
          <p:nvPr/>
        </p:nvSpPr>
        <p:spPr>
          <a:xfrm>
            <a:off x="5623560" y="1920240"/>
            <a:ext cx="594360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Inicio de sesión</a:t>
            </a:r>
            <a:endParaRPr b="0" i="0" sz="1800" u="none" cap="none" strike="noStrike">
              <a:solidFill>
                <a:schemeClr val="dk1"/>
              </a:solidFill>
              <a:latin typeface="Calibri"/>
              <a:ea typeface="Calibri"/>
              <a:cs typeface="Calibri"/>
              <a:sym typeface="Calibri"/>
            </a:endParaRPr>
          </a:p>
        </p:txBody>
      </p:sp>
      <p:sp>
        <p:nvSpPr>
          <p:cNvPr id="368" name="Google Shape;368;h1a3ff83170dc108f_1_324"/>
          <p:cNvSpPr txBox="1"/>
          <p:nvPr/>
        </p:nvSpPr>
        <p:spPr>
          <a:xfrm>
            <a:off x="5623560" y="2286000"/>
            <a:ext cx="5943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Error genérico con credenciales inválidas y acceso correcto.</a:t>
            </a:r>
            <a:endParaRPr b="0" i="0" sz="1400" u="none" cap="none" strike="noStrike">
              <a:solidFill>
                <a:schemeClr val="dk1"/>
              </a:solidFill>
              <a:latin typeface="Calibri"/>
              <a:ea typeface="Calibri"/>
              <a:cs typeface="Calibri"/>
              <a:sym typeface="Calibri"/>
            </a:endParaRPr>
          </a:p>
        </p:txBody>
      </p:sp>
      <p:sp>
        <p:nvSpPr>
          <p:cNvPr id="369" name="Google Shape;369;h1a3ff83170dc108f_1_324"/>
          <p:cNvSpPr/>
          <p:nvPr/>
        </p:nvSpPr>
        <p:spPr>
          <a:xfrm>
            <a:off x="4937760" y="2999232"/>
            <a:ext cx="457200" cy="457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h1a3ff83170dc108f_1_324"/>
          <p:cNvSpPr txBox="1"/>
          <p:nvPr/>
        </p:nvSpPr>
        <p:spPr>
          <a:xfrm>
            <a:off x="4937760" y="299923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71" name="Google Shape;371;h1a3ff83170dc108f_1_324"/>
          <p:cNvSpPr txBox="1"/>
          <p:nvPr/>
        </p:nvSpPr>
        <p:spPr>
          <a:xfrm>
            <a:off x="5623560" y="2926080"/>
            <a:ext cx="594360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Roles y usuarios</a:t>
            </a:r>
            <a:endParaRPr b="0" i="0" sz="1800" u="none" cap="none" strike="noStrike">
              <a:solidFill>
                <a:schemeClr val="dk1"/>
              </a:solidFill>
              <a:latin typeface="Calibri"/>
              <a:ea typeface="Calibri"/>
              <a:cs typeface="Calibri"/>
              <a:sym typeface="Calibri"/>
            </a:endParaRPr>
          </a:p>
        </p:txBody>
      </p:sp>
      <p:sp>
        <p:nvSpPr>
          <p:cNvPr id="372" name="Google Shape;372;h1a3ff83170dc108f_1_324"/>
          <p:cNvSpPr txBox="1"/>
          <p:nvPr/>
        </p:nvSpPr>
        <p:spPr>
          <a:xfrm>
            <a:off x="5623560" y="3291840"/>
            <a:ext cx="5943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Perfiles admin, operador y visor; administración desde la API.</a:t>
            </a:r>
            <a:endParaRPr b="0" i="0" sz="1400" u="none" cap="none" strike="noStrike">
              <a:solidFill>
                <a:schemeClr val="dk1"/>
              </a:solidFill>
              <a:latin typeface="Calibri"/>
              <a:ea typeface="Calibri"/>
              <a:cs typeface="Calibri"/>
              <a:sym typeface="Calibri"/>
            </a:endParaRPr>
          </a:p>
        </p:txBody>
      </p:sp>
      <p:sp>
        <p:nvSpPr>
          <p:cNvPr id="373" name="Google Shape;373;h1a3ff83170dc108f_1_324"/>
          <p:cNvSpPr/>
          <p:nvPr/>
        </p:nvSpPr>
        <p:spPr>
          <a:xfrm>
            <a:off x="4937760" y="4005072"/>
            <a:ext cx="457200" cy="457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h1a3ff83170dc108f_1_324"/>
          <p:cNvSpPr txBox="1"/>
          <p:nvPr/>
        </p:nvSpPr>
        <p:spPr>
          <a:xfrm>
            <a:off x="4937760" y="4005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375" name="Google Shape;375;h1a3ff83170dc108f_1_324"/>
          <p:cNvSpPr txBox="1"/>
          <p:nvPr/>
        </p:nvSpPr>
        <p:spPr>
          <a:xfrm>
            <a:off x="5623560" y="3931920"/>
            <a:ext cx="594360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Dashboard de monitoreo</a:t>
            </a:r>
            <a:endParaRPr b="0" i="0" sz="1800" u="none" cap="none" strike="noStrike">
              <a:solidFill>
                <a:schemeClr val="dk1"/>
              </a:solidFill>
              <a:latin typeface="Calibri"/>
              <a:ea typeface="Calibri"/>
              <a:cs typeface="Calibri"/>
              <a:sym typeface="Calibri"/>
            </a:endParaRPr>
          </a:p>
        </p:txBody>
      </p:sp>
      <p:sp>
        <p:nvSpPr>
          <p:cNvPr id="376" name="Google Shape;376;h1a3ff83170dc108f_1_324"/>
          <p:cNvSpPr txBox="1"/>
          <p:nvPr/>
        </p:nvSpPr>
        <p:spPr>
          <a:xfrm>
            <a:off x="5623560" y="4297680"/>
            <a:ext cx="5943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Centro de control con indicadores, interfaces y actividad.</a:t>
            </a:r>
            <a:br>
              <a:rPr b="0" i="0" lang="en-US" sz="1400" u="none" cap="none" strike="noStrike">
                <a:solidFill>
                  <a:schemeClr val="accent5"/>
                </a:solidFill>
                <a:latin typeface="Calibri"/>
                <a:ea typeface="Calibri"/>
                <a:cs typeface="Calibri"/>
                <a:sym typeface="Calibri"/>
              </a:rPr>
            </a:br>
            <a:r>
              <a:rPr b="0" i="0" lang="en-US" sz="1400" u="none" cap="none" strike="noStrike">
                <a:solidFill>
                  <a:schemeClr val="accent5"/>
                </a:solidFill>
                <a:latin typeface="Calibri"/>
                <a:ea typeface="Calibri"/>
                <a:cs typeface="Calibri"/>
                <a:sym typeface="Calibri"/>
              </a:rPr>
              <a:t>(Datos hardcodeados por el momento)</a:t>
            </a:r>
            <a:endParaRPr b="0" i="0" sz="1400" u="none" cap="none" strike="noStrike">
              <a:solidFill>
                <a:schemeClr val="dk1"/>
              </a:solidFill>
              <a:latin typeface="Calibri"/>
              <a:ea typeface="Calibri"/>
              <a:cs typeface="Calibri"/>
              <a:sym typeface="Calibri"/>
            </a:endParaRPr>
          </a:p>
        </p:txBody>
      </p:sp>
      <p:sp>
        <p:nvSpPr>
          <p:cNvPr id="377" name="Google Shape;377;h1a3ff83170dc108f_1_324"/>
          <p:cNvSpPr txBox="1"/>
          <p:nvPr>
            <p:ph idx="4294967295" type="sldNum"/>
          </p:nvPr>
        </p:nvSpPr>
        <p:spPr>
          <a:xfrm>
            <a:off x="10725912" y="6400800"/>
            <a:ext cx="9144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5"/>
                </a:solidFill>
                <a:latin typeface="Calibri"/>
                <a:ea typeface="Calibri"/>
                <a:cs typeface="Calibri"/>
                <a:sym typeface="Calibri"/>
              </a:rPr>
              <a:t>‹#›</a:t>
            </a:fld>
            <a:endParaRPr b="0" i="0" sz="1100" u="none" cap="none" strike="noStrike">
              <a:solidFill>
                <a:schemeClr val="accent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NetBot">
  <a:themeElements>
    <a:clrScheme name="NetBot">
      <a:dk1>
        <a:srgbClr val="0B2E33"/>
      </a:dk1>
      <a:lt1>
        <a:srgbClr val="FFFFFF"/>
      </a:lt1>
      <a:dk2>
        <a:srgbClr val="042A2E"/>
      </a:dk2>
      <a:lt2>
        <a:srgbClr val="F5FAFA"/>
      </a:lt2>
      <a:accent1>
        <a:srgbClr val="028090"/>
      </a:accent1>
      <a:accent2>
        <a:srgbClr val="02C39A"/>
      </a:accent2>
      <a:accent3>
        <a:srgbClr val="00A896"/>
      </a:accent3>
      <a:accent4>
        <a:srgbClr val="D9A441"/>
      </a:accent4>
      <a:accent5>
        <a:srgbClr val="9DB8BA"/>
      </a:accent5>
      <a:accent6>
        <a:srgbClr val="4B6C70"/>
      </a:accent6>
      <a:hlink>
        <a:srgbClr val="028090"/>
      </a:hlink>
      <a:folHlink>
        <a:srgbClr val="4B6C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tBot">
  <a:themeElements>
    <a:clrScheme name="NetBot">
      <a:dk1>
        <a:srgbClr val="0B2E33"/>
      </a:dk1>
      <a:lt1>
        <a:srgbClr val="FFFFFF"/>
      </a:lt1>
      <a:dk2>
        <a:srgbClr val="042A2E"/>
      </a:dk2>
      <a:lt2>
        <a:srgbClr val="F5FAFA"/>
      </a:lt2>
      <a:accent1>
        <a:srgbClr val="028090"/>
      </a:accent1>
      <a:accent2>
        <a:srgbClr val="02C39A"/>
      </a:accent2>
      <a:accent3>
        <a:srgbClr val="00A896"/>
      </a:accent3>
      <a:accent4>
        <a:srgbClr val="D9A441"/>
      </a:accent4>
      <a:accent5>
        <a:srgbClr val="9DB8BA"/>
      </a:accent5>
      <a:accent6>
        <a:srgbClr val="4B6C70"/>
      </a:accent6>
      <a:hlink>
        <a:srgbClr val="028090"/>
      </a:hlink>
      <a:folHlink>
        <a:srgbClr val="4B6C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2026-10-18T03:47:22Z</dcterms:created>
  <dc:creator>Itamar Carrasco, Bastián Herrera, Francisco Díaz</dc:creator>
</cp:coreProperties>
</file>